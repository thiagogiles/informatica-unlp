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03" r:id="rId1"/>
  </p:sldMasterIdLst>
  <p:notesMasterIdLst>
    <p:notesMasterId r:id="rId19"/>
  </p:notesMasterIdLst>
  <p:handoutMasterIdLst>
    <p:handoutMasterId r:id="rId20"/>
  </p:handoutMasterIdLst>
  <p:sldIdLst>
    <p:sldId id="463" r:id="rId2"/>
    <p:sldId id="730" r:id="rId3"/>
    <p:sldId id="256" r:id="rId4"/>
    <p:sldId id="588" r:id="rId5"/>
    <p:sldId id="764" r:id="rId6"/>
    <p:sldId id="763" r:id="rId7"/>
    <p:sldId id="765" r:id="rId8"/>
    <p:sldId id="766" r:id="rId9"/>
    <p:sldId id="767" r:id="rId10"/>
    <p:sldId id="768" r:id="rId11"/>
    <p:sldId id="769" r:id="rId12"/>
    <p:sldId id="770" r:id="rId13"/>
    <p:sldId id="771" r:id="rId14"/>
    <p:sldId id="772" r:id="rId15"/>
    <p:sldId id="773" r:id="rId16"/>
    <p:sldId id="775" r:id="rId17"/>
    <p:sldId id="762" r:id="rId18"/>
  </p:sldIdLst>
  <p:sldSz cx="12192000" cy="6858000"/>
  <p:notesSz cx="6794500" cy="992505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00"/>
    <a:srgbClr val="FF33CC"/>
    <a:srgbClr val="CC3399"/>
    <a:srgbClr val="D60093"/>
    <a:srgbClr val="FF66CC"/>
    <a:srgbClr val="66CCFF"/>
    <a:srgbClr val="E5E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37" autoAdjust="0"/>
  </p:normalViewPr>
  <p:slideViewPr>
    <p:cSldViewPr>
      <p:cViewPr varScale="1">
        <p:scale>
          <a:sx n="56" d="100"/>
          <a:sy n="56" d="100"/>
        </p:scale>
        <p:origin x="976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notesViewPr>
    <p:cSldViewPr>
      <p:cViewPr>
        <p:scale>
          <a:sx n="66" d="100"/>
          <a:sy n="66" d="100"/>
        </p:scale>
        <p:origin x="-3264" y="-72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FB2C01A-BC2C-4708-1D65-9D2593EA55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08A1A3A7-E916-10C9-657A-C0CE2B78CF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1F08E1AA-7BFF-C4AE-F500-92D2FD50452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DF87CE38-A497-77B1-4770-8826B7F0F37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E4D246E-7BFE-47F1-B141-18AB1B77A9A1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A6969BF2-0CA1-B993-8B0A-087246B29D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BDAF5C6A-740A-C48D-DF2C-0B31CCF2DE0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D97D81FB-45DB-C9AC-470D-2A57AAF1A9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" y="762000"/>
            <a:ext cx="663575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BCD1B07D-9C07-0F17-E7AA-266CB06FD0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31078" name="Rectangle 6">
            <a:extLst>
              <a:ext uri="{FF2B5EF4-FFF2-40B4-BE49-F238E27FC236}">
                <a16:creationId xmlns:a16="http://schemas.microsoft.com/office/drawing/2014/main" id="{B2090D26-708D-A326-2657-6EA16B4B1E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883B3208-D324-C242-A6D8-226580151C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31F5410-D20C-47F2-8027-7201869DEA67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3A82ED47-CFF5-322C-0DDF-EEB029DA33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509CCC-F2DF-4E04-A7C6-5909DBDC0419}" type="slidenum">
              <a:rPr lang="es-ES" altLang="es-AR" smtClean="0"/>
              <a:pPr>
                <a:spcBef>
                  <a:spcPct val="0"/>
                </a:spcBef>
              </a:pPr>
              <a:t>1</a:t>
            </a:fld>
            <a:endParaRPr lang="es-ES" altLang="es-AR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F9C3C8E-8BF8-4912-B172-88D83A0E4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8793442-AF39-A9B1-A560-072181918E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C3BE930-7729-B9CC-FA89-E9973A5DC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AC8C3F8-BF6C-40D9-AAA9-C34323241B1E}" type="slidenum">
              <a:rPr lang="es-ES" altLang="es-AR" smtClean="0"/>
              <a:pPr>
                <a:spcBef>
                  <a:spcPct val="0"/>
                </a:spcBef>
              </a:pPr>
              <a:t>2</a:t>
            </a:fld>
            <a:endParaRPr lang="es-ES" altLang="es-AR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53F2973-253E-C2E3-CDB3-143E8A803C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6157B8D7-7D91-5D4D-26F5-58846C44B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AR"/>
              <a:t>Hay algunas diapositivas que tenemos que decidir que hacer……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9F034597-94AB-075F-D523-6D79FEFA00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4BE803B-E5F7-4568-871A-F30239923069}" type="slidenum">
              <a:rPr lang="es-ES" altLang="es-AR" smtClean="0"/>
              <a:pPr>
                <a:spcBef>
                  <a:spcPct val="0"/>
                </a:spcBef>
              </a:pPr>
              <a:t>3</a:t>
            </a:fld>
            <a:endParaRPr lang="es-ES" altLang="es-AR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E22E182-477A-4CBB-A78A-4BD5E499C0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3C6D2B8-62F5-A799-6678-CD6388F27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AR"/>
              <a:t>Hay algunas diapositivas que tenemos que decidir que hacer……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1BE07ADC-5D2D-2BC0-1D98-C200041823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0869FE9-538E-4867-A1DD-57B694A5E87B}" type="slidenum">
              <a:rPr lang="es-ES" altLang="es-AR" smtClean="0"/>
              <a:pPr>
                <a:spcBef>
                  <a:spcPct val="0"/>
                </a:spcBef>
              </a:pPr>
              <a:t>4</a:t>
            </a:fld>
            <a:endParaRPr lang="es-ES" altLang="es-AR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E0890C6-BDDB-C41A-A5C0-41F7FC257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07F5118-AF37-AF4D-DACE-88312DEDFE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0B982B2D-EF4E-3740-C3D0-082EEC61C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51C49BF-79A5-4904-A1F3-10D68535522F}" type="slidenum">
              <a:rPr lang="es-ES" altLang="es-AR" smtClean="0"/>
              <a:pPr>
                <a:spcBef>
                  <a:spcPct val="0"/>
                </a:spcBef>
              </a:pPr>
              <a:t>5</a:t>
            </a:fld>
            <a:endParaRPr lang="es-ES" altLang="es-AR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1D3AF18-09AE-D406-4526-4BA94641B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198A481-F434-2196-49F2-42012265F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3EA17893-BFA4-9537-2A65-061570C212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534AE56-C16B-465C-BE86-7AB389F07E0A}" type="slidenum">
              <a:rPr lang="es-ES" altLang="es-AR" smtClean="0"/>
              <a:pPr>
                <a:spcBef>
                  <a:spcPct val="0"/>
                </a:spcBef>
              </a:pPr>
              <a:t>6</a:t>
            </a:fld>
            <a:endParaRPr lang="es-ES" altLang="es-AR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8FFB68E-6662-D45C-3A4E-8EE39F0F77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EEEF2770-F2FC-1CD4-5F5B-6ADC0197B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48FB081-865D-8E56-0F18-66F0C649A1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494BFF-8C3C-4A7A-9257-8F7F81CEED48}" type="slidenum">
              <a:rPr lang="es-ES" altLang="es-AR" smtClean="0"/>
              <a:pPr>
                <a:spcBef>
                  <a:spcPct val="0"/>
                </a:spcBef>
              </a:pPr>
              <a:t>7</a:t>
            </a:fld>
            <a:endParaRPr lang="es-ES" altLang="es-AR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C02FE95-3C9E-AF9B-6CE1-E0C689129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E263EA6E-511E-B12F-2723-3274E9676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A711A300-0E8B-48C6-43AF-6D6E4C0E60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8EB6A99-85BA-41AE-A9C4-C55B1CC718D4}" type="slidenum">
              <a:rPr lang="es-ES" altLang="es-AR" smtClean="0"/>
              <a:pPr>
                <a:spcBef>
                  <a:spcPct val="0"/>
                </a:spcBef>
              </a:pPr>
              <a:t>8</a:t>
            </a:fld>
            <a:endParaRPr lang="es-ES" altLang="es-AR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4E5E110-547A-0B00-0C7C-5BB5BA487C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BFE13AF-312A-F599-6D44-884ED7BBF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C709148B-8203-A49A-2097-078A0C4E0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F177E5-672D-435D-820B-879396627B09}" type="slidenum">
              <a:rPr lang="es-ES" altLang="es-AR" smtClean="0"/>
              <a:pPr>
                <a:spcBef>
                  <a:spcPct val="0"/>
                </a:spcBef>
              </a:pPr>
              <a:t>9</a:t>
            </a:fld>
            <a:endParaRPr lang="es-ES" altLang="es-AR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5FA6EA8-EBF5-BDE7-507A-D23AF3EDB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4A75276-FE5B-F0E1-3A5B-C68BD0F77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B868561B-0FA0-A4F6-BD04-86E7B09884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FE7253-272B-44D8-B894-6668BDD0AAA4}" type="slidenum">
              <a:rPr lang="es-ES" altLang="es-AR" smtClean="0"/>
              <a:pPr>
                <a:spcBef>
                  <a:spcPct val="0"/>
                </a:spcBef>
              </a:pPr>
              <a:t>10</a:t>
            </a:fld>
            <a:endParaRPr lang="es-ES" altLang="es-AR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CB9914A-D8AA-7AD7-F803-DA1002B8C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F589D32-349F-FEAC-BF45-0ADF2DFA5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3036004-7ED5-F568-012D-63A54FA7EE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06BDC0-D6D0-4D2B-A06F-628A641D84E2}" type="slidenum">
              <a:rPr lang="es-ES" altLang="es-AR" smtClean="0"/>
              <a:pPr>
                <a:spcBef>
                  <a:spcPct val="0"/>
                </a:spcBef>
              </a:pPr>
              <a:t>11</a:t>
            </a:fld>
            <a:endParaRPr lang="es-ES" altLang="es-AR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8D53EB0-D6B5-E0C8-2B11-222499A951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818D15B-6E94-63AA-274C-D6F93AE4C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B69C5D1-F0BE-3D5F-3307-3405B5A37D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E5B54C2-078C-45E4-AB3E-9171FD348E38}" type="slidenum">
              <a:rPr lang="es-ES" altLang="es-AR" smtClean="0"/>
              <a:pPr>
                <a:spcBef>
                  <a:spcPct val="0"/>
                </a:spcBef>
              </a:pPr>
              <a:t>12</a:t>
            </a:fld>
            <a:endParaRPr lang="es-ES" altLang="es-AR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09443BE-6092-13DE-F12B-17B081500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000CCAB-A0AB-0C1D-CE8F-2CD7B9F06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F8D08C8-F313-8817-667C-7CFD9A56DD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C94D9B-4AC2-4269-BE35-AC72FC9B9534}" type="slidenum">
              <a:rPr lang="es-ES" altLang="es-AR" smtClean="0"/>
              <a:pPr>
                <a:spcBef>
                  <a:spcPct val="0"/>
                </a:spcBef>
              </a:pPr>
              <a:t>13</a:t>
            </a:fld>
            <a:endParaRPr lang="es-ES" altLang="es-AR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266887B-1487-F4BD-B0A2-A816DF825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3F68EAE-A157-51B1-EFE1-9232D0BDB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8798147-52F9-558F-5CFA-40372282CC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81B7562-E45B-4563-90A7-2B1D5C0AC1AC}" type="slidenum">
              <a:rPr lang="es-ES" altLang="es-AR" smtClean="0"/>
              <a:pPr>
                <a:spcBef>
                  <a:spcPct val="0"/>
                </a:spcBef>
              </a:pPr>
              <a:t>14</a:t>
            </a:fld>
            <a:endParaRPr lang="es-ES" altLang="es-AR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526D94A-2DFF-C070-3856-2509410D6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DE0458B-2210-4684-481E-4CE96D0E6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076391C-E88E-5C6F-46B2-204E395E8E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54FF0B-FD38-4FB8-856F-987C59F279C0}" type="slidenum">
              <a:rPr lang="es-ES" altLang="es-AR" smtClean="0"/>
              <a:pPr>
                <a:spcBef>
                  <a:spcPct val="0"/>
                </a:spcBef>
              </a:pPr>
              <a:t>15</a:t>
            </a:fld>
            <a:endParaRPr lang="es-ES" altLang="es-AR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2C93CB9-9397-DBE5-A632-5B09CF044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5CF6EDB-5BA6-F1DE-4BEF-06C566704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FA1D9411-4290-C7F0-5F05-2FE80CAD65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233405-6CEF-4C37-BE5C-18F2A4DF23B2}" type="slidenum">
              <a:rPr lang="es-ES" altLang="es-AR" smtClean="0"/>
              <a:pPr>
                <a:spcBef>
                  <a:spcPct val="0"/>
                </a:spcBef>
              </a:pPr>
              <a:t>16</a:t>
            </a:fld>
            <a:endParaRPr lang="es-ES" altLang="es-AR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25754C2-01CD-C760-02D3-625C03FEC8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593C0028-07ED-D8DD-F56C-355F5267F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9013D98F-B4E7-DF5C-A20B-85F83F8FBE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24CF657-24C3-42C1-B518-DAADCE8E0249}" type="slidenum">
              <a:rPr lang="es-ES" altLang="es-AR" smtClean="0"/>
              <a:pPr>
                <a:spcBef>
                  <a:spcPct val="0"/>
                </a:spcBef>
              </a:pPr>
              <a:t>17</a:t>
            </a:fld>
            <a:endParaRPr lang="es-ES" altLang="es-AR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ECF0CE45-C2B5-7FDF-3058-802F7528B2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6CEB872-A818-DB26-8997-75D50AE52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3FDAA-83D4-7A9B-0DEB-F5A7237E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695FA-3FD8-FA7A-B077-28F0A699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AF16C-FC03-F446-05FF-BBC35689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DE689-11A3-4FD8-95CB-2FC3B82EA2E3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993629671"/>
      </p:ext>
    </p:extLst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201C8-C791-6AAF-1840-1F90ACE0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4D45F-F0ED-D4EE-B8B0-FCEEB48A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FE0B-4E4D-C082-C1F7-A0934ED7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B5B12-A14E-43E4-A3D4-BEECCFFC7E7D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834485231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45540-A7F3-5FC6-02AC-81F38679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BAB1E-849E-A671-F4CB-2DC92344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5D950-51B7-1A26-C237-224847B4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0FA67-A22F-4535-9B4B-DB2F5A9F3BD0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164775676"/>
      </p:ext>
    </p:extLst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E8BF9-F8EF-984A-FE57-0EE4E6D1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D3DAB-0EB4-53B5-1CC2-C1DF564C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F154-4023-D6E2-5E0F-904B39CE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31AB0-8B34-493D-941D-F3F1DB5A35E5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211363458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D2A1640C-6D5D-6AD4-C933-8197470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27BEB38-F993-6055-BF09-8EC32779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B55A53C8-A3FE-55EF-BED9-48603716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8742C-EF1E-4373-9145-77A31525F1EF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815392424"/>
      </p:ext>
    </p:extLst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49CA5C1-7E27-F971-3CA9-4B9B2991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594CA99-EF37-FB85-9DE6-420B574C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2012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DA250F7-3DEC-AF29-6B19-BCC301A3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B2CA-D707-468C-97C8-18CEAB73979C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160292649"/>
      </p:ext>
    </p:extLst>
  </p:cSld>
  <p:clrMapOvr>
    <a:masterClrMapping/>
  </p:clrMapOvr>
  <p:transition spd="slow">
    <p:random/>
  </p:transition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F251B-0113-CA77-764F-C44C33B9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B7A78-5A21-1671-D95E-BF06B30C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1E33E-1FE9-789E-DE73-5C6C226A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A5771-9755-4A5B-8299-9ED49DA84A18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529025718"/>
      </p:ext>
    </p:extLst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2F54B-AE97-1476-147C-114D0D82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83378-5BBD-4B4B-DF52-EE794556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F7C0B-36E9-5AAA-ACE9-B4A6DBD2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5488A-60C6-47E2-A12E-2E89FAFA135D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277545773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38C64-1E12-302C-D677-C3739AED7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58CEE-7FF0-C37F-2B64-3095E80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28DAA-D0EA-6587-F30B-4D2AF3D4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A04B-7F09-42E1-80CA-EAEA1B1C685F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027457688"/>
      </p:ext>
    </p:extLst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4DB1F-541F-5C95-D475-B3F528A6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C503F-B865-0C32-FEE4-F040C993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04B7D-FD68-FB03-5890-AC22E05B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1E72A-2F98-49E6-9E0C-376438031100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730259113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3BDBA-8E04-6E34-3B63-78F4D150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05841-890F-13D3-F6E5-5FB52B4B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A1F7C-B521-C4A6-68D1-69508541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FC389-C650-4FC4-8FA8-9316F2A60861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017931630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0A32503-F919-556B-FA38-3ED4FAC976E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4455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título del patrón</a:t>
            </a:r>
            <a:endParaRPr lang="en-US" altLang="es-E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6C959FA-F35A-79C3-1DCE-300EEE5CDF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44550" y="1828800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03FFC-0DA3-5DFA-3A66-2A2948E02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E2F60-372A-D1DB-6300-EB17BED47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/>
              <a:t>Algoritmos, Datos y Programas 2012</a:t>
            </a:r>
            <a:endParaRPr lang="es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DC533-4EB0-5577-ADFA-0BB7C786D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F6729A5-AA1E-4632-AF92-CFF2DC347581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3" r:id="rId2"/>
    <p:sldLayoutId id="2147484784" r:id="rId3"/>
    <p:sldLayoutId id="2147484785" r:id="rId4"/>
    <p:sldLayoutId id="2147484786" r:id="rId5"/>
    <p:sldLayoutId id="2147484781" r:id="rId6"/>
    <p:sldLayoutId id="2147484787" r:id="rId7"/>
    <p:sldLayoutId id="2147484788" r:id="rId8"/>
    <p:sldLayoutId id="2147484789" r:id="rId9"/>
    <p:sldLayoutId id="2147484790" r:id="rId10"/>
    <p:sldLayoutId id="2147484791" r:id="rId11"/>
  </p:sldLayoutIdLst>
  <p:transition spd="slow">
    <p:random/>
  </p:transition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n 10">
            <a:extLst>
              <a:ext uri="{FF2B5EF4-FFF2-40B4-BE49-F238E27FC236}">
                <a16:creationId xmlns:a16="http://schemas.microsoft.com/office/drawing/2014/main" id="{F0A09C36-BE27-309E-67E6-FD088C8EF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285750"/>
            <a:ext cx="10261600" cy="65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0B0A112D-A38D-506D-12F5-85B9CC335C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51088" y="3530600"/>
            <a:ext cx="7308850" cy="278288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TALLER DE</a:t>
            </a:r>
            <a:b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</a:br>
            <a: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 PROGRAMACION</a:t>
            </a: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56FBF7CD-4837-3903-BFBE-1F1F09ABAD55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E64633-A69C-6A33-9886-E89FF3EF53AF}"/>
              </a:ext>
            </a:extLst>
          </p:cNvPr>
          <p:cNvSpPr txBox="1"/>
          <p:nvPr/>
        </p:nvSpPr>
        <p:spPr>
          <a:xfrm>
            <a:off x="407988" y="328613"/>
            <a:ext cx="6389687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Cómo vamos a Trabajar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6 CuadroTexto">
            <a:extLst>
              <a:ext uri="{FF2B5EF4-FFF2-40B4-BE49-F238E27FC236}">
                <a16:creationId xmlns:a16="http://schemas.microsoft.com/office/drawing/2014/main" id="{440CBC33-F67F-17B3-3E6D-05D9F7997BEF}"/>
              </a:ext>
            </a:extLst>
          </p:cNvPr>
          <p:cNvSpPr txBox="1"/>
          <p:nvPr/>
        </p:nvSpPr>
        <p:spPr bwMode="auto">
          <a:xfrm>
            <a:off x="292100" y="1700213"/>
            <a:ext cx="8713788" cy="708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Planteo de un tema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21" name="6 CuadroTexto">
            <a:extLst>
              <a:ext uri="{FF2B5EF4-FFF2-40B4-BE49-F238E27FC236}">
                <a16:creationId xmlns:a16="http://schemas.microsoft.com/office/drawing/2014/main" id="{F3A32344-1498-B003-49AE-EEF0342F1BF2}"/>
              </a:ext>
            </a:extLst>
          </p:cNvPr>
          <p:cNvSpPr txBox="1"/>
          <p:nvPr/>
        </p:nvSpPr>
        <p:spPr bwMode="auto">
          <a:xfrm>
            <a:off x="292100" y="5745163"/>
            <a:ext cx="8713788" cy="708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Formulario de preguntas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24" name="6 CuadroTexto">
            <a:extLst>
              <a:ext uri="{FF2B5EF4-FFF2-40B4-BE49-F238E27FC236}">
                <a16:creationId xmlns:a16="http://schemas.microsoft.com/office/drawing/2014/main" id="{C3F7E118-C091-93B7-6EAB-999D0DEC2282}"/>
              </a:ext>
            </a:extLst>
          </p:cNvPr>
          <p:cNvSpPr txBox="1"/>
          <p:nvPr/>
        </p:nvSpPr>
        <p:spPr bwMode="auto">
          <a:xfrm>
            <a:off x="1270000" y="2551113"/>
            <a:ext cx="8713788" cy="31686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Conceptos teóricos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4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Ejercicios prácticos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4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Conclusiones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91627D8D-CD67-1605-DBF0-7916B404C7C1}"/>
              </a:ext>
            </a:extLst>
          </p:cNvPr>
          <p:cNvSpPr/>
          <p:nvPr/>
        </p:nvSpPr>
        <p:spPr bwMode="auto">
          <a:xfrm>
            <a:off x="766763" y="2636838"/>
            <a:ext cx="503237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11111E-6 L -0.00286 0.1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0.17014 L 0.00313 0.3571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  <p:bldP spid="3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05EBD3D0-0650-102E-27F6-21A1336B8CBC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BAC32E-E201-B41B-6FF5-34925419FFB6}"/>
              </a:ext>
            </a:extLst>
          </p:cNvPr>
          <p:cNvSpPr txBox="1"/>
          <p:nvPr/>
        </p:nvSpPr>
        <p:spPr>
          <a:xfrm>
            <a:off x="407988" y="328613"/>
            <a:ext cx="7710487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de la clase de hoy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8436" name="CuadroTexto 21">
            <a:extLst>
              <a:ext uri="{FF2B5EF4-FFF2-40B4-BE49-F238E27FC236}">
                <a16:creationId xmlns:a16="http://schemas.microsoft.com/office/drawing/2014/main" id="{41B5AF99-4A15-C646-F378-706AD7992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2406650"/>
            <a:ext cx="5254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" altLang="es-AR" sz="6000" b="1">
                <a:solidFill>
                  <a:schemeClr val="bg1"/>
                </a:solidFill>
                <a:latin typeface="Agency FB" panose="020B0503020202020204" pitchFamily="34" charset="0"/>
              </a:rPr>
              <a:t>2</a:t>
            </a:r>
            <a:endParaRPr lang="es-AR" altLang="es-AR" sz="6000" b="1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931BFA9-97E4-52EF-93FD-1297188F01B1}"/>
              </a:ext>
            </a:extLst>
          </p:cNvPr>
          <p:cNvGrpSpPr>
            <a:grpSpLocks/>
          </p:cNvGrpSpPr>
          <p:nvPr/>
        </p:nvGrpSpPr>
        <p:grpSpPr bwMode="auto">
          <a:xfrm>
            <a:off x="466725" y="2125663"/>
            <a:ext cx="2244725" cy="2559050"/>
            <a:chOff x="179388" y="2125663"/>
            <a:chExt cx="2244725" cy="2558479"/>
          </a:xfrm>
        </p:grpSpPr>
        <p:sp>
          <p:nvSpPr>
            <p:cNvPr id="43" name="6 CuadroTexto">
              <a:extLst>
                <a:ext uri="{FF2B5EF4-FFF2-40B4-BE49-F238E27FC236}">
                  <a16:creationId xmlns:a16="http://schemas.microsoft.com/office/drawing/2014/main" id="{62AF055F-E63D-FAC7-D4A5-F77D9787BE87}"/>
                </a:ext>
              </a:extLst>
            </p:cNvPr>
            <p:cNvSpPr txBox="1"/>
            <p:nvPr/>
          </p:nvSpPr>
          <p:spPr>
            <a:xfrm>
              <a:off x="179388" y="3976275"/>
              <a:ext cx="2244725" cy="707867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Recursión</a:t>
              </a:r>
            </a:p>
          </p:txBody>
        </p:sp>
        <p:grpSp>
          <p:nvGrpSpPr>
            <p:cNvPr id="18449" name="Grupo 29">
              <a:extLst>
                <a:ext uri="{FF2B5EF4-FFF2-40B4-BE49-F238E27FC236}">
                  <a16:creationId xmlns:a16="http://schemas.microsoft.com/office/drawing/2014/main" id="{16123780-37DF-2C00-BDD5-7E44DCFB7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88" y="2125663"/>
              <a:ext cx="2016125" cy="2016125"/>
              <a:chOff x="335360" y="2132856"/>
              <a:chExt cx="2016224" cy="2016224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F3E21AA1-A006-010D-3B48-3C25670D1C22}"/>
                  </a:ext>
                </a:extLst>
              </p:cNvPr>
              <p:cNvSpPr/>
              <p:nvPr/>
            </p:nvSpPr>
            <p:spPr>
              <a:xfrm>
                <a:off x="335360" y="2132856"/>
                <a:ext cx="2016224" cy="20157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51" name="CuadroTexto 20">
                <a:extLst>
                  <a:ext uri="{FF2B5EF4-FFF2-40B4-BE49-F238E27FC236}">
                    <a16:creationId xmlns:a16="http://schemas.microsoft.com/office/drawing/2014/main" id="{17872253-43C4-4645-98C3-8E65C1962A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365806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1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6A92CFE-0D50-2791-351C-9F7B073E2658}"/>
              </a:ext>
            </a:extLst>
          </p:cNvPr>
          <p:cNvGrpSpPr>
            <a:grpSpLocks/>
          </p:cNvGrpSpPr>
          <p:nvPr/>
        </p:nvGrpSpPr>
        <p:grpSpPr bwMode="auto">
          <a:xfrm>
            <a:off x="4872038" y="2125663"/>
            <a:ext cx="2244725" cy="3803650"/>
            <a:chOff x="3241675" y="2125663"/>
            <a:chExt cx="2244725" cy="3803666"/>
          </a:xfrm>
        </p:grpSpPr>
        <p:grpSp>
          <p:nvGrpSpPr>
            <p:cNvPr id="18444" name="Grupo 30">
              <a:extLst>
                <a:ext uri="{FF2B5EF4-FFF2-40B4-BE49-F238E27FC236}">
                  <a16:creationId xmlns:a16="http://schemas.microsoft.com/office/drawing/2014/main" id="{2E1104F5-3770-C2A8-D9CE-17880782E8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150" y="2125663"/>
              <a:ext cx="2016125" cy="2016125"/>
              <a:chOff x="335360" y="2132856"/>
              <a:chExt cx="2016224" cy="2016224"/>
            </a:xfrm>
          </p:grpSpPr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48C1C2BA-45AD-99A1-90DB-7D93258AB995}"/>
                  </a:ext>
                </a:extLst>
              </p:cNvPr>
              <p:cNvSpPr/>
              <p:nvPr/>
            </p:nvSpPr>
            <p:spPr>
              <a:xfrm>
                <a:off x="335360" y="2132856"/>
                <a:ext cx="2016224" cy="201623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47" name="CuadroTexto 32">
                <a:extLst>
                  <a:ext uri="{FF2B5EF4-FFF2-40B4-BE49-F238E27FC236}">
                    <a16:creationId xmlns:a16="http://schemas.microsoft.com/office/drawing/2014/main" id="{C57B1F3E-6C31-B87B-2320-00208805FB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24503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2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45" name="6 CuadroTexto">
              <a:extLst>
                <a:ext uri="{FF2B5EF4-FFF2-40B4-BE49-F238E27FC236}">
                  <a16:creationId xmlns:a16="http://schemas.microsoft.com/office/drawing/2014/main" id="{6CC9DEB0-D30A-BFC2-B093-235746CEA477}"/>
                </a:ext>
              </a:extLst>
            </p:cNvPr>
            <p:cNvSpPr txBox="1"/>
            <p:nvPr/>
          </p:nvSpPr>
          <p:spPr>
            <a:xfrm>
              <a:off x="3241675" y="3990983"/>
              <a:ext cx="2244725" cy="1938346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Ejemplos de Algoritmos Recursivos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658C93F-186A-376A-9243-8CA5243D925B}"/>
              </a:ext>
            </a:extLst>
          </p:cNvPr>
          <p:cNvGrpSpPr>
            <a:grpSpLocks/>
          </p:cNvGrpSpPr>
          <p:nvPr/>
        </p:nvGrpSpPr>
        <p:grpSpPr bwMode="auto">
          <a:xfrm>
            <a:off x="9420225" y="2125663"/>
            <a:ext cx="2406650" cy="2579687"/>
            <a:chOff x="9420226" y="2125663"/>
            <a:chExt cx="2406650" cy="2579548"/>
          </a:xfrm>
        </p:grpSpPr>
        <p:grpSp>
          <p:nvGrpSpPr>
            <p:cNvPr id="18440" name="Grupo 36">
              <a:extLst>
                <a:ext uri="{FF2B5EF4-FFF2-40B4-BE49-F238E27FC236}">
                  <a16:creationId xmlns:a16="http://schemas.microsoft.com/office/drawing/2014/main" id="{27894979-496D-A120-9AD6-E43BAE26A9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96450" y="2125663"/>
              <a:ext cx="2016125" cy="2016125"/>
              <a:chOff x="335360" y="2132856"/>
              <a:chExt cx="2016224" cy="2016224"/>
            </a:xfrm>
          </p:grpSpPr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F9E84424-075A-C805-5905-C24D27FA251C}"/>
                  </a:ext>
                </a:extLst>
              </p:cNvPr>
              <p:cNvSpPr/>
              <p:nvPr/>
            </p:nvSpPr>
            <p:spPr>
              <a:xfrm>
                <a:off x="335361" y="2132856"/>
                <a:ext cx="2016224" cy="2016115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43" name="CuadroTexto 38">
                <a:extLst>
                  <a:ext uri="{FF2B5EF4-FFF2-40B4-BE49-F238E27FC236}">
                    <a16:creationId xmlns:a16="http://schemas.microsoft.com/office/drawing/2014/main" id="{E7FC36EA-994B-89E1-E58A-A7B231490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34121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3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47" name="6 CuadroTexto">
              <a:extLst>
                <a:ext uri="{FF2B5EF4-FFF2-40B4-BE49-F238E27FC236}">
                  <a16:creationId xmlns:a16="http://schemas.microsoft.com/office/drawing/2014/main" id="{C8289760-E83A-E86C-DA56-91E530AC8E5D}"/>
                </a:ext>
              </a:extLst>
            </p:cNvPr>
            <p:cNvSpPr txBox="1"/>
            <p:nvPr/>
          </p:nvSpPr>
          <p:spPr>
            <a:xfrm>
              <a:off x="9420226" y="3997224"/>
              <a:ext cx="2406650" cy="707987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Conclusiones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73CC058E-6961-3F26-B447-DFA524A32A24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DDE263-3C4B-D221-F1B7-B028C603806D}"/>
              </a:ext>
            </a:extLst>
          </p:cNvPr>
          <p:cNvSpPr txBox="1"/>
          <p:nvPr/>
        </p:nvSpPr>
        <p:spPr>
          <a:xfrm>
            <a:off x="407988" y="328613"/>
            <a:ext cx="85979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iniciales- RECURSION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6 CuadroTexto">
            <a:extLst>
              <a:ext uri="{FF2B5EF4-FFF2-40B4-BE49-F238E27FC236}">
                <a16:creationId xmlns:a16="http://schemas.microsoft.com/office/drawing/2014/main" id="{41FA694B-2978-4170-8962-B5D716564969}"/>
              </a:ext>
            </a:extLst>
          </p:cNvPr>
          <p:cNvSpPr txBox="1"/>
          <p:nvPr/>
        </p:nvSpPr>
        <p:spPr>
          <a:xfrm>
            <a:off x="766763" y="1844675"/>
            <a:ext cx="5256212" cy="73818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200" dirty="0">
                <a:latin typeface="Agency FB" panose="020B0503020202020204" pitchFamily="34" charset="0"/>
              </a:rPr>
              <a:t>Qué podemos notar?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3D31570B-303C-60B5-E3E1-C1DA0CBD8544}"/>
              </a:ext>
            </a:extLst>
          </p:cNvPr>
          <p:cNvSpPr/>
          <p:nvPr/>
        </p:nvSpPr>
        <p:spPr bwMode="auto">
          <a:xfrm>
            <a:off x="263525" y="1989138"/>
            <a:ext cx="503238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20486" name="Google Shape;267;p6">
            <a:extLst>
              <a:ext uri="{FF2B5EF4-FFF2-40B4-BE49-F238E27FC236}">
                <a16:creationId xmlns:a16="http://schemas.microsoft.com/office/drawing/2014/main" id="{D342FA91-54A3-E849-E5AF-FA5C281E0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975" y="1481138"/>
            <a:ext cx="3241675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Type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lista= ^nodo;  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endParaRPr lang="en-US" altLang="es-AR" sz="22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nodo = record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dato:integer;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sig: lista;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 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487" name="Google Shape;267;p6">
            <a:extLst>
              <a:ext uri="{FF2B5EF4-FFF2-40B4-BE49-F238E27FC236}">
                <a16:creationId xmlns:a16="http://schemas.microsoft.com/office/drawing/2014/main" id="{FB34DC99-284E-5726-2AFC-98D0D77C8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3789363"/>
            <a:ext cx="604837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imprimir (L:lista);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while (L &lt;&gt; nil) do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write (L^.dato);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L:= L^.sig;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sp>
        <p:nvSpPr>
          <p:cNvPr id="10" name="6 CuadroTexto">
            <a:extLst>
              <a:ext uri="{FF2B5EF4-FFF2-40B4-BE49-F238E27FC236}">
                <a16:creationId xmlns:a16="http://schemas.microsoft.com/office/drawing/2014/main" id="{43E23AA1-35BD-358F-F535-FBD8B00CEB60}"/>
              </a:ext>
            </a:extLst>
          </p:cNvPr>
          <p:cNvSpPr txBox="1"/>
          <p:nvPr/>
        </p:nvSpPr>
        <p:spPr>
          <a:xfrm>
            <a:off x="7310438" y="4221163"/>
            <a:ext cx="4135437" cy="147796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solidFill>
                  <a:srgbClr val="FF0000"/>
                </a:solidFill>
                <a:latin typeface="Agency FB" panose="020B0503020202020204" pitchFamily="34" charset="0"/>
              </a:rPr>
              <a:t>1</a:t>
            </a:r>
            <a:r>
              <a:rPr lang="es-ES" sz="3000" dirty="0">
                <a:latin typeface="Agency FB" panose="020B0503020202020204" pitchFamily="34" charset="0"/>
              </a:rPr>
              <a:t>  Imprimo el primer elemento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solidFill>
                  <a:srgbClr val="FF0000"/>
                </a:solidFill>
                <a:latin typeface="Agency FB" panose="020B0503020202020204" pitchFamily="34" charset="0"/>
              </a:rPr>
              <a:t>2</a:t>
            </a:r>
            <a:r>
              <a:rPr lang="es-ES" sz="3000" dirty="0">
                <a:latin typeface="Agency FB" panose="020B0503020202020204" pitchFamily="34" charset="0"/>
              </a:rPr>
              <a:t>  Avanzo en la lista</a:t>
            </a:r>
          </a:p>
        </p:txBody>
      </p:sp>
      <p:sp>
        <p:nvSpPr>
          <p:cNvPr id="11" name="Flecha: curvada hacia la derecha 10">
            <a:extLst>
              <a:ext uri="{FF2B5EF4-FFF2-40B4-BE49-F238E27FC236}">
                <a16:creationId xmlns:a16="http://schemas.microsoft.com/office/drawing/2014/main" id="{A697EB89-AEAF-81D2-384E-D0A8A722617C}"/>
              </a:ext>
            </a:extLst>
          </p:cNvPr>
          <p:cNvSpPr/>
          <p:nvPr/>
        </p:nvSpPr>
        <p:spPr>
          <a:xfrm rot="10959633" flipH="1">
            <a:off x="6334125" y="4351338"/>
            <a:ext cx="731838" cy="1216025"/>
          </a:xfrm>
          <a:prstGeom prst="curvedRightArrow">
            <a:avLst/>
          </a:prstGeom>
          <a:solidFill>
            <a:srgbClr val="FF0000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14" name="6 CuadroTexto">
            <a:extLst>
              <a:ext uri="{FF2B5EF4-FFF2-40B4-BE49-F238E27FC236}">
                <a16:creationId xmlns:a16="http://schemas.microsoft.com/office/drawing/2014/main" id="{BB34A7B0-2E2F-71FC-BB88-3D490590E497}"/>
              </a:ext>
            </a:extLst>
          </p:cNvPr>
          <p:cNvSpPr txBox="1"/>
          <p:nvPr/>
        </p:nvSpPr>
        <p:spPr>
          <a:xfrm>
            <a:off x="8543925" y="5859463"/>
            <a:ext cx="2160588" cy="73818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200" dirty="0">
                <a:solidFill>
                  <a:srgbClr val="FF0000"/>
                </a:solidFill>
                <a:latin typeface="Agency FB" panose="020B0503020202020204" pitchFamily="34" charset="0"/>
              </a:rPr>
              <a:t>Lista vacía</a:t>
            </a:r>
          </a:p>
        </p:txBody>
      </p:sp>
      <p:sp>
        <p:nvSpPr>
          <p:cNvPr id="20491" name="Google Shape;267;p6">
            <a:extLst>
              <a:ext uri="{FF2B5EF4-FFF2-40B4-BE49-F238E27FC236}">
                <a16:creationId xmlns:a16="http://schemas.microsoft.com/office/drawing/2014/main" id="{B8E8748D-5578-ABC1-65E1-A81AFD867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888" y="2159000"/>
            <a:ext cx="2922587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 el contenido de la lista</a:t>
            </a:r>
            <a:endParaRPr lang="es-AR" altLang="es-AR" sz="2200" b="1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  <p:bldP spid="11" grpId="1" animBg="1"/>
      <p:bldP spid="11" grpId="2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275D4178-8ADC-32FA-3404-DB7682CAFFC9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FF4EFC-D383-6F0F-E275-755CD2D7F1E7}"/>
              </a:ext>
            </a:extLst>
          </p:cNvPr>
          <p:cNvSpPr txBox="1"/>
          <p:nvPr/>
        </p:nvSpPr>
        <p:spPr>
          <a:xfrm>
            <a:off x="407988" y="328613"/>
            <a:ext cx="85979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iniciales- RECURSION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6 CuadroTexto">
            <a:extLst>
              <a:ext uri="{FF2B5EF4-FFF2-40B4-BE49-F238E27FC236}">
                <a16:creationId xmlns:a16="http://schemas.microsoft.com/office/drawing/2014/main" id="{87A15F5D-FAC7-1EF7-2E5F-802BA73569BB}"/>
              </a:ext>
            </a:extLst>
          </p:cNvPr>
          <p:cNvSpPr txBox="1"/>
          <p:nvPr/>
        </p:nvSpPr>
        <p:spPr>
          <a:xfrm>
            <a:off x="766763" y="1700213"/>
            <a:ext cx="5256212" cy="7397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200" dirty="0">
                <a:latin typeface="Agency FB" panose="020B0503020202020204" pitchFamily="34" charset="0"/>
              </a:rPr>
              <a:t>Qué podemos notar?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6099B9F7-4C44-6EDF-06E6-046F88D83913}"/>
              </a:ext>
            </a:extLst>
          </p:cNvPr>
          <p:cNvSpPr/>
          <p:nvPr/>
        </p:nvSpPr>
        <p:spPr bwMode="auto">
          <a:xfrm>
            <a:off x="263525" y="1844675"/>
            <a:ext cx="503238" cy="576263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22534" name="Google Shape;267;p6">
            <a:extLst>
              <a:ext uri="{FF2B5EF4-FFF2-40B4-BE49-F238E27FC236}">
                <a16:creationId xmlns:a16="http://schemas.microsoft.com/office/drawing/2014/main" id="{87C4D88E-3BBF-2199-2485-3C06C2F3A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1652588"/>
            <a:ext cx="5761038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Calcular la potencia de un número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num</a:t>
            </a:r>
            <a:r>
              <a:rPr lang="en-US" altLang="es-AR" sz="2200" baseline="30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 </a:t>
            </a: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= num * num * num (n veces)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535" name="Google Shape;267;p6">
            <a:extLst>
              <a:ext uri="{FF2B5EF4-FFF2-40B4-BE49-F238E27FC236}">
                <a16:creationId xmlns:a16="http://schemas.microsoft.com/office/drawing/2014/main" id="{B2276088-3E6C-6835-8E6A-8976AA3CB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2882900"/>
            <a:ext cx="94329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potencia (num,n:integer;var pot:integer);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(n = 0) then pot:= 1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else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pot:= 1;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for i:- 1 to n do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pot:= pot * num;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</a:pPr>
            <a:r>
              <a:rPr lang="en-US" altLang="es-AR" sz="24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sp>
        <p:nvSpPr>
          <p:cNvPr id="10" name="6 CuadroTexto">
            <a:extLst>
              <a:ext uri="{FF2B5EF4-FFF2-40B4-BE49-F238E27FC236}">
                <a16:creationId xmlns:a16="http://schemas.microsoft.com/office/drawing/2014/main" id="{64DCC088-83F5-37D3-B577-A70D20FFDFAD}"/>
              </a:ext>
            </a:extLst>
          </p:cNvPr>
          <p:cNvSpPr txBox="1"/>
          <p:nvPr/>
        </p:nvSpPr>
        <p:spPr>
          <a:xfrm>
            <a:off x="7310438" y="4221163"/>
            <a:ext cx="4618037" cy="1477962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solidFill>
                  <a:srgbClr val="FF0000"/>
                </a:solidFill>
                <a:latin typeface="Agency FB" panose="020B0503020202020204" pitchFamily="34" charset="0"/>
              </a:rPr>
              <a:t>1</a:t>
            </a:r>
            <a:r>
              <a:rPr lang="es-ES" sz="3000" dirty="0">
                <a:latin typeface="Agency FB" panose="020B0503020202020204" pitchFamily="34" charset="0"/>
              </a:rPr>
              <a:t>  Multiplico el número por sí mismo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solidFill>
                  <a:srgbClr val="FF0000"/>
                </a:solidFill>
                <a:latin typeface="Agency FB" panose="020B0503020202020204" pitchFamily="34" charset="0"/>
              </a:rPr>
              <a:t>2</a:t>
            </a:r>
            <a:r>
              <a:rPr lang="es-ES" sz="3000" dirty="0">
                <a:latin typeface="Agency FB" panose="020B0503020202020204" pitchFamily="34" charset="0"/>
              </a:rPr>
              <a:t>  Se incrementa i</a:t>
            </a:r>
          </a:p>
        </p:txBody>
      </p:sp>
      <p:sp>
        <p:nvSpPr>
          <p:cNvPr id="11" name="Flecha: curvada hacia la derecha 10">
            <a:extLst>
              <a:ext uri="{FF2B5EF4-FFF2-40B4-BE49-F238E27FC236}">
                <a16:creationId xmlns:a16="http://schemas.microsoft.com/office/drawing/2014/main" id="{AB0631E5-58B7-C4CB-3E4E-3AE553A8E822}"/>
              </a:ext>
            </a:extLst>
          </p:cNvPr>
          <p:cNvSpPr/>
          <p:nvPr/>
        </p:nvSpPr>
        <p:spPr>
          <a:xfrm rot="10959633" flipH="1">
            <a:off x="6334125" y="4351338"/>
            <a:ext cx="731838" cy="1216025"/>
          </a:xfrm>
          <a:prstGeom prst="curvedRightArrow">
            <a:avLst/>
          </a:prstGeom>
          <a:solidFill>
            <a:srgbClr val="FF0000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14" name="6 CuadroTexto">
            <a:extLst>
              <a:ext uri="{FF2B5EF4-FFF2-40B4-BE49-F238E27FC236}">
                <a16:creationId xmlns:a16="http://schemas.microsoft.com/office/drawing/2014/main" id="{B2AD3D95-EBAE-1F06-FEFF-4EA0D3256275}"/>
              </a:ext>
            </a:extLst>
          </p:cNvPr>
          <p:cNvSpPr txBox="1"/>
          <p:nvPr/>
        </p:nvSpPr>
        <p:spPr>
          <a:xfrm>
            <a:off x="7896225" y="5791200"/>
            <a:ext cx="3744913" cy="73818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200" dirty="0">
                <a:solidFill>
                  <a:srgbClr val="FF0000"/>
                </a:solidFill>
                <a:latin typeface="Agency FB" panose="020B0503020202020204" pitchFamily="34" charset="0"/>
              </a:rPr>
              <a:t>El número sea i = n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  <p:bldP spid="11" grpId="1" animBg="1"/>
      <p:bldP spid="11" grpId="2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E8DF67AD-66AB-F8F2-976A-AB5CDED9D371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6435EA-D791-6672-FC71-7999155EB24D}"/>
              </a:ext>
            </a:extLst>
          </p:cNvPr>
          <p:cNvSpPr txBox="1"/>
          <p:nvPr/>
        </p:nvSpPr>
        <p:spPr>
          <a:xfrm>
            <a:off x="407988" y="328613"/>
            <a:ext cx="85979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iniciales- RECURSION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4580" name="Grupo 6">
            <a:extLst>
              <a:ext uri="{FF2B5EF4-FFF2-40B4-BE49-F238E27FC236}">
                <a16:creationId xmlns:a16="http://schemas.microsoft.com/office/drawing/2014/main" id="{2B0EC5AA-EB31-5055-186E-E1A3A5C97DB4}"/>
              </a:ext>
            </a:extLst>
          </p:cNvPr>
          <p:cNvGrpSpPr>
            <a:grpSpLocks/>
          </p:cNvGrpSpPr>
          <p:nvPr/>
        </p:nvGrpSpPr>
        <p:grpSpPr bwMode="auto">
          <a:xfrm>
            <a:off x="290513" y="1712913"/>
            <a:ext cx="2349500" cy="1395412"/>
            <a:chOff x="767408" y="2060848"/>
            <a:chExt cx="2304256" cy="2474274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A7C959D-2D4F-2B7A-EA50-063E0AAAA269}"/>
                </a:ext>
              </a:extLst>
            </p:cNvPr>
            <p:cNvSpPr/>
            <p:nvPr/>
          </p:nvSpPr>
          <p:spPr>
            <a:xfrm>
              <a:off x="767408" y="2060848"/>
              <a:ext cx="2304256" cy="15115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15" name="6 CuadroTexto">
              <a:extLst>
                <a:ext uri="{FF2B5EF4-FFF2-40B4-BE49-F238E27FC236}">
                  <a16:creationId xmlns:a16="http://schemas.microsoft.com/office/drawing/2014/main" id="{B5AF59E1-D9BE-FC5B-189B-8C7E28BDE373}"/>
                </a:ext>
              </a:extLst>
            </p:cNvPr>
            <p:cNvSpPr txBox="1"/>
            <p:nvPr/>
          </p:nvSpPr>
          <p:spPr>
            <a:xfrm>
              <a:off x="912202" y="2187516"/>
              <a:ext cx="2016224" cy="2347606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RECURSION</a:t>
              </a:r>
            </a:p>
          </p:txBody>
        </p:sp>
      </p:grpSp>
      <p:grpSp>
        <p:nvGrpSpPr>
          <p:cNvPr id="24581" name="Grupo 10">
            <a:extLst>
              <a:ext uri="{FF2B5EF4-FFF2-40B4-BE49-F238E27FC236}">
                <a16:creationId xmlns:a16="http://schemas.microsoft.com/office/drawing/2014/main" id="{69976DCC-017E-4F96-D400-EA5C688D7D14}"/>
              </a:ext>
            </a:extLst>
          </p:cNvPr>
          <p:cNvGrpSpPr>
            <a:grpSpLocks/>
          </p:cNvGrpSpPr>
          <p:nvPr/>
        </p:nvGrpSpPr>
        <p:grpSpPr bwMode="auto">
          <a:xfrm>
            <a:off x="2868613" y="1557338"/>
            <a:ext cx="8843962" cy="3324225"/>
            <a:chOff x="2796354" y="1973833"/>
            <a:chExt cx="9094059" cy="3322563"/>
          </a:xfrm>
        </p:grpSpPr>
        <p:sp>
          <p:nvSpPr>
            <p:cNvPr id="17" name="6 CuadroTexto">
              <a:extLst>
                <a:ext uri="{FF2B5EF4-FFF2-40B4-BE49-F238E27FC236}">
                  <a16:creationId xmlns:a16="http://schemas.microsoft.com/office/drawing/2014/main" id="{52FA02DB-C757-6B03-4EAB-98AB3ECD7B8E}"/>
                </a:ext>
              </a:extLst>
            </p:cNvPr>
            <p:cNvSpPr txBox="1"/>
            <p:nvPr/>
          </p:nvSpPr>
          <p:spPr>
            <a:xfrm>
              <a:off x="3375853" y="1973833"/>
              <a:ext cx="8514560" cy="3322563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just" eaLnBrk="1" hangingPunct="1">
                <a:buClr>
                  <a:srgbClr val="FFCC66"/>
                </a:buClr>
                <a:defRPr/>
              </a:pPr>
              <a:r>
                <a:rPr lang="es-ES" sz="3000" dirty="0">
                  <a:latin typeface="Agency FB" panose="020B0503020202020204" pitchFamily="34" charset="0"/>
                </a:rPr>
                <a:t>La recursión es una metodología para resolver problemas. </a:t>
              </a:r>
            </a:p>
            <a:p>
              <a:pPr algn="just" eaLnBrk="1" hangingPunct="1">
                <a:buClr>
                  <a:srgbClr val="FFCC66"/>
                </a:buClr>
                <a:defRPr/>
              </a:pPr>
              <a:endParaRPr lang="es-ES" sz="3000" dirty="0">
                <a:latin typeface="Agency FB" panose="020B0503020202020204" pitchFamily="34" charset="0"/>
              </a:endParaRPr>
            </a:p>
            <a:p>
              <a:pPr algn="just" eaLnBrk="1" hangingPunct="1">
                <a:buClr>
                  <a:srgbClr val="FFCC66"/>
                </a:buClr>
                <a:defRPr/>
              </a:pPr>
              <a:r>
                <a:rPr lang="es-ES" sz="3000" dirty="0">
                  <a:latin typeface="Agency FB" panose="020B0503020202020204" pitchFamily="34" charset="0"/>
                </a:rPr>
                <a:t>Permite resolver un problema P por resolución de instancias más pequeñas P1, P2, … </a:t>
              </a:r>
              <a:r>
                <a:rPr lang="es-ES" sz="3000" dirty="0" err="1">
                  <a:latin typeface="Agency FB" panose="020B0503020202020204" pitchFamily="34" charset="0"/>
                </a:rPr>
                <a:t>Pn</a:t>
              </a:r>
              <a:r>
                <a:rPr lang="es-ES" sz="3000" dirty="0">
                  <a:latin typeface="Agency FB" panose="020B0503020202020204" pitchFamily="34" charset="0"/>
                </a:rPr>
                <a:t> del mismo problema.</a:t>
              </a:r>
            </a:p>
            <a:p>
              <a:pPr algn="just" eaLnBrk="1" hangingPunct="1">
                <a:buClr>
                  <a:srgbClr val="FFCC66"/>
                </a:buClr>
                <a:defRPr/>
              </a:pPr>
              <a:endParaRPr lang="es-ES" sz="3000" dirty="0">
                <a:latin typeface="Agency FB" panose="020B0503020202020204" pitchFamily="34" charset="0"/>
              </a:endParaRPr>
            </a:p>
            <a:p>
              <a:pPr algn="just" eaLnBrk="1" hangingPunct="1">
                <a:buClr>
                  <a:srgbClr val="FFCC66"/>
                </a:buClr>
                <a:defRPr/>
              </a:pPr>
              <a:r>
                <a:rPr lang="es-ES" sz="3000" dirty="0">
                  <a:latin typeface="Agency FB" panose="020B0503020202020204" pitchFamily="34" charset="0"/>
                </a:rPr>
                <a:t>El problema Pi  es de la misma naturaleza que el problema original, pero en algún sentido es más simple. </a:t>
              </a:r>
            </a:p>
          </p:txBody>
        </p:sp>
        <p:sp>
          <p:nvSpPr>
            <p:cNvPr id="18" name="Flecha: a la derecha 17">
              <a:extLst>
                <a:ext uri="{FF2B5EF4-FFF2-40B4-BE49-F238E27FC236}">
                  <a16:creationId xmlns:a16="http://schemas.microsoft.com/office/drawing/2014/main" id="{01011FF3-3435-B4E6-F665-0FED578FE9D0}"/>
                </a:ext>
              </a:extLst>
            </p:cNvPr>
            <p:cNvSpPr/>
            <p:nvPr/>
          </p:nvSpPr>
          <p:spPr>
            <a:xfrm>
              <a:off x="2796354" y="2430804"/>
              <a:ext cx="504409" cy="575974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/>
            </a:p>
          </p:txBody>
        </p:sp>
      </p:grpSp>
      <p:sp>
        <p:nvSpPr>
          <p:cNvPr id="19" name="6 CuadroTexto">
            <a:extLst>
              <a:ext uri="{FF2B5EF4-FFF2-40B4-BE49-F238E27FC236}">
                <a16:creationId xmlns:a16="http://schemas.microsoft.com/office/drawing/2014/main" id="{D5988065-8B9D-B90E-0B56-E510149E5756}"/>
              </a:ext>
            </a:extLst>
          </p:cNvPr>
          <p:cNvSpPr txBox="1"/>
          <p:nvPr/>
        </p:nvSpPr>
        <p:spPr bwMode="auto">
          <a:xfrm>
            <a:off x="290513" y="5145088"/>
            <a:ext cx="11553825" cy="1016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b="1" dirty="0">
                <a:latin typeface="Agency FB" panose="020B0503020202020204" pitchFamily="34" charset="0"/>
              </a:rPr>
              <a:t>CASO BASE</a:t>
            </a:r>
            <a:r>
              <a:rPr lang="es-ES" sz="3000" dirty="0">
                <a:latin typeface="Agency FB" panose="020B0503020202020204" pitchFamily="34" charset="0"/>
              </a:rPr>
              <a:t>: siempre existe. No debe resolverse recursivamente. En ocasiones no hay que hacer nada, sólo sirve para cortar la recursión.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4ECAACB3-F951-09BB-414F-DA7EDD24916F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E8F8B1-9163-CE6E-F554-6C2398FDA60C}"/>
              </a:ext>
            </a:extLst>
          </p:cNvPr>
          <p:cNvSpPr txBox="1"/>
          <p:nvPr/>
        </p:nvSpPr>
        <p:spPr>
          <a:xfrm>
            <a:off x="407988" y="328613"/>
            <a:ext cx="85979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iniciales- RECURSION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6628" name="Grupo 8">
            <a:extLst>
              <a:ext uri="{FF2B5EF4-FFF2-40B4-BE49-F238E27FC236}">
                <a16:creationId xmlns:a16="http://schemas.microsoft.com/office/drawing/2014/main" id="{21C4D37B-930A-947B-5063-6C65032B60C3}"/>
              </a:ext>
            </a:extLst>
          </p:cNvPr>
          <p:cNvGrpSpPr>
            <a:grpSpLocks/>
          </p:cNvGrpSpPr>
          <p:nvPr/>
        </p:nvGrpSpPr>
        <p:grpSpPr bwMode="auto">
          <a:xfrm>
            <a:off x="290513" y="1484313"/>
            <a:ext cx="4868862" cy="852487"/>
            <a:chOff x="290512" y="1484784"/>
            <a:chExt cx="4869384" cy="852487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635D27F2-336B-CB8D-3598-FE178B2CD0EE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15" name="6 CuadroTexto">
              <a:extLst>
                <a:ext uri="{FF2B5EF4-FFF2-40B4-BE49-F238E27FC236}">
                  <a16:creationId xmlns:a16="http://schemas.microsoft.com/office/drawing/2014/main" id="{E2AB4E51-DBD0-BBAE-DACA-472C853D2FA9}"/>
                </a:ext>
              </a:extLst>
            </p:cNvPr>
            <p:cNvSpPr txBox="1"/>
            <p:nvPr/>
          </p:nvSpPr>
          <p:spPr bwMode="auto">
            <a:xfrm>
              <a:off x="595345" y="1556221"/>
              <a:ext cx="4175573" cy="647700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ALGORITMO ITERATIVO</a:t>
              </a:r>
            </a:p>
          </p:txBody>
        </p:sp>
      </p:grpSp>
      <p:sp>
        <p:nvSpPr>
          <p:cNvPr id="17" name="6 CuadroTexto">
            <a:extLst>
              <a:ext uri="{FF2B5EF4-FFF2-40B4-BE49-F238E27FC236}">
                <a16:creationId xmlns:a16="http://schemas.microsoft.com/office/drawing/2014/main" id="{76BBA293-9A26-EDE6-E794-5737026BB5BC}"/>
              </a:ext>
            </a:extLst>
          </p:cNvPr>
          <p:cNvSpPr txBox="1"/>
          <p:nvPr/>
        </p:nvSpPr>
        <p:spPr bwMode="auto">
          <a:xfrm>
            <a:off x="119063" y="2781300"/>
            <a:ext cx="4752975" cy="28003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L:lista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while (L &lt;&gt; nil) do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write (L^.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L:=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L^.sig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grpSp>
        <p:nvGrpSpPr>
          <p:cNvPr id="26630" name="Grupo 9">
            <a:extLst>
              <a:ext uri="{FF2B5EF4-FFF2-40B4-BE49-F238E27FC236}">
                <a16:creationId xmlns:a16="http://schemas.microsoft.com/office/drawing/2014/main" id="{099AAA5A-FAD6-5231-7D69-758106349722}"/>
              </a:ext>
            </a:extLst>
          </p:cNvPr>
          <p:cNvGrpSpPr>
            <a:grpSpLocks/>
          </p:cNvGrpSpPr>
          <p:nvPr/>
        </p:nvGrpSpPr>
        <p:grpSpPr bwMode="auto">
          <a:xfrm>
            <a:off x="5951984" y="1520825"/>
            <a:ext cx="5264150" cy="852488"/>
            <a:chOff x="6519250" y="1520502"/>
            <a:chExt cx="5265382" cy="852487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013B906F-8943-6951-3BFE-FBA82CB9E4F6}"/>
                </a:ext>
              </a:extLst>
            </p:cNvPr>
            <p:cNvSpPr/>
            <p:nvPr/>
          </p:nvSpPr>
          <p:spPr bwMode="auto">
            <a:xfrm>
              <a:off x="6519250" y="1520502"/>
              <a:ext cx="5265382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4" name="6 CuadroTexto">
              <a:extLst>
                <a:ext uri="{FF2B5EF4-FFF2-40B4-BE49-F238E27FC236}">
                  <a16:creationId xmlns:a16="http://schemas.microsoft.com/office/drawing/2014/main" id="{A1288E8B-0C75-F1E3-FA5B-3454BF2F493D}"/>
                </a:ext>
              </a:extLst>
            </p:cNvPr>
            <p:cNvSpPr txBox="1"/>
            <p:nvPr/>
          </p:nvSpPr>
          <p:spPr bwMode="auto">
            <a:xfrm>
              <a:off x="6847939" y="1591940"/>
              <a:ext cx="4608003" cy="68421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ALGORITMO RECURSIVO</a:t>
              </a:r>
            </a:p>
          </p:txBody>
        </p:sp>
      </p:grpSp>
      <p:sp>
        <p:nvSpPr>
          <p:cNvPr id="8" name="6 CuadroTexto">
            <a:extLst>
              <a:ext uri="{FF2B5EF4-FFF2-40B4-BE49-F238E27FC236}">
                <a16:creationId xmlns:a16="http://schemas.microsoft.com/office/drawing/2014/main" id="{69198658-6BDC-1119-4A80-ED3B872F3479}"/>
              </a:ext>
            </a:extLst>
          </p:cNvPr>
          <p:cNvSpPr txBox="1"/>
          <p:nvPr/>
        </p:nvSpPr>
        <p:spPr bwMode="auto">
          <a:xfrm>
            <a:off x="5087938" y="2746375"/>
            <a:ext cx="7053262" cy="34782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L:lista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caso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Base) then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código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para resolver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caso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base</a:t>
            </a:r>
            <a:r>
              <a:rPr lang="en-US" altLang="es-AR" sz="20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{</a:t>
            </a:r>
            <a:r>
              <a:rPr lang="en-US" altLang="es-AR" sz="20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opcional</a:t>
            </a:r>
            <a:r>
              <a:rPr lang="en-US" altLang="es-AR" sz="20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}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else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resuelvo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“algo del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problema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”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“</a:t>
            </a:r>
            <a:r>
              <a:rPr lang="en-US" altLang="es-AR" sz="22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achico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“ el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problema</a:t>
            </a:r>
            <a:endParaRPr lang="en-US" altLang="es-AR" sz="22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</a:t>
            </a:r>
            <a:r>
              <a:rPr lang="en-US" altLang="es-AR" sz="22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invoco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a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parámetros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A42EAD3D-7579-A92A-AD93-F904D12D90F2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3FCBE1-9C17-874C-64AB-A9F672C6E666}"/>
              </a:ext>
            </a:extLst>
          </p:cNvPr>
          <p:cNvSpPr txBox="1"/>
          <p:nvPr/>
        </p:nvSpPr>
        <p:spPr>
          <a:xfrm>
            <a:off x="407988" y="328613"/>
            <a:ext cx="77851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8676" name="Grupo 8">
            <a:extLst>
              <a:ext uri="{FF2B5EF4-FFF2-40B4-BE49-F238E27FC236}">
                <a16:creationId xmlns:a16="http://schemas.microsoft.com/office/drawing/2014/main" id="{A90B1B8B-1E74-9F85-4FA6-C4E0455D9358}"/>
              </a:ext>
            </a:extLst>
          </p:cNvPr>
          <p:cNvGrpSpPr>
            <a:grpSpLocks/>
          </p:cNvGrpSpPr>
          <p:nvPr/>
        </p:nvGrpSpPr>
        <p:grpSpPr bwMode="auto">
          <a:xfrm>
            <a:off x="290513" y="1708150"/>
            <a:ext cx="4868862" cy="852488"/>
            <a:chOff x="290512" y="1484784"/>
            <a:chExt cx="4869384" cy="852487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46CBE6C-6363-AC58-B30D-90455BB793AD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15" name="6 CuadroTexto">
              <a:extLst>
                <a:ext uri="{FF2B5EF4-FFF2-40B4-BE49-F238E27FC236}">
                  <a16:creationId xmlns:a16="http://schemas.microsoft.com/office/drawing/2014/main" id="{7FEB8225-38E3-1C85-F94B-5B99909F2697}"/>
                </a:ext>
              </a:extLst>
            </p:cNvPr>
            <p:cNvSpPr txBox="1"/>
            <p:nvPr/>
          </p:nvSpPr>
          <p:spPr bwMode="auto">
            <a:xfrm>
              <a:off x="595345" y="1556222"/>
              <a:ext cx="4175573" cy="647699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ALGORITMO ITERATIVO</a:t>
              </a:r>
            </a:p>
          </p:txBody>
        </p:sp>
      </p:grpSp>
      <p:sp>
        <p:nvSpPr>
          <p:cNvPr id="17" name="6 CuadroTexto">
            <a:extLst>
              <a:ext uri="{FF2B5EF4-FFF2-40B4-BE49-F238E27FC236}">
                <a16:creationId xmlns:a16="http://schemas.microsoft.com/office/drawing/2014/main" id="{4C25732E-5601-F302-04DB-4CB16A257E51}"/>
              </a:ext>
            </a:extLst>
          </p:cNvPr>
          <p:cNvSpPr txBox="1"/>
          <p:nvPr/>
        </p:nvSpPr>
        <p:spPr bwMode="auto">
          <a:xfrm>
            <a:off x="263525" y="3005138"/>
            <a:ext cx="4752975" cy="28003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L:lista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while (L &lt;&gt; nil) do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write (L^.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L:=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L^.sig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sp>
        <p:nvSpPr>
          <p:cNvPr id="2" name="Google Shape;218;p9">
            <a:extLst>
              <a:ext uri="{FF2B5EF4-FFF2-40B4-BE49-F238E27FC236}">
                <a16:creationId xmlns:a16="http://schemas.microsoft.com/office/drawing/2014/main" id="{AE46DB95-A612-ABD6-9443-CF84FB35D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188" y="2997200"/>
            <a:ext cx="2833687" cy="2376488"/>
          </a:xfrm>
          <a:prstGeom prst="rect">
            <a:avLst/>
          </a:prstGeom>
          <a:noFill/>
          <a:ln w="38100">
            <a:solidFill>
              <a:srgbClr val="76717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grpSp>
        <p:nvGrpSpPr>
          <p:cNvPr id="7" name="Google Shape;222;p9">
            <a:extLst>
              <a:ext uri="{FF2B5EF4-FFF2-40B4-BE49-F238E27FC236}">
                <a16:creationId xmlns:a16="http://schemas.microsoft.com/office/drawing/2014/main" id="{36C32C9D-A33A-6F5E-DD84-EB3C5D1B75DB}"/>
              </a:ext>
            </a:extLst>
          </p:cNvPr>
          <p:cNvGrpSpPr>
            <a:grpSpLocks/>
          </p:cNvGrpSpPr>
          <p:nvPr/>
        </p:nvGrpSpPr>
        <p:grpSpPr bwMode="auto">
          <a:xfrm>
            <a:off x="7440613" y="3143250"/>
            <a:ext cx="701675" cy="1628775"/>
            <a:chOff x="6244683" y="1456496"/>
            <a:chExt cx="701573" cy="1628677"/>
          </a:xfrm>
        </p:grpSpPr>
        <p:cxnSp>
          <p:nvCxnSpPr>
            <p:cNvPr id="28687" name="Google Shape;223;p9">
              <a:extLst>
                <a:ext uri="{FF2B5EF4-FFF2-40B4-BE49-F238E27FC236}">
                  <a16:creationId xmlns:a16="http://schemas.microsoft.com/office/drawing/2014/main" id="{717C75AD-3BA5-40DA-A816-D79EE3B60A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244683" y="3066124"/>
              <a:ext cx="669828" cy="0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88" name="Google Shape;224;p9">
              <a:extLst>
                <a:ext uri="{FF2B5EF4-FFF2-40B4-BE49-F238E27FC236}">
                  <a16:creationId xmlns:a16="http://schemas.microsoft.com/office/drawing/2014/main" id="{5C31CA5C-64B2-0FC1-531F-092BB08513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3730" y="1456496"/>
              <a:ext cx="0" cy="1628677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89" name="Google Shape;225;p9">
              <a:extLst>
                <a:ext uri="{FF2B5EF4-FFF2-40B4-BE49-F238E27FC236}">
                  <a16:creationId xmlns:a16="http://schemas.microsoft.com/office/drawing/2014/main" id="{8CE567F2-5117-FB0C-4A69-F86CD6DAE1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3730" y="1456496"/>
              <a:ext cx="682526" cy="0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Google Shape;220;p9">
            <a:extLst>
              <a:ext uri="{FF2B5EF4-FFF2-40B4-BE49-F238E27FC236}">
                <a16:creationId xmlns:a16="http://schemas.microsoft.com/office/drawing/2014/main" id="{8615713D-8279-FB98-D66C-4D3F7C4CA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638" y="4437063"/>
            <a:ext cx="2654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Variables del programa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principal</a:t>
            </a:r>
            <a:endParaRPr lang="es-AR" altLang="es-AR"/>
          </a:p>
        </p:txBody>
      </p:sp>
      <p:sp>
        <p:nvSpPr>
          <p:cNvPr id="20" name="Google Shape;221;p9">
            <a:extLst>
              <a:ext uri="{FF2B5EF4-FFF2-40B4-BE49-F238E27FC236}">
                <a16:creationId xmlns:a16="http://schemas.microsoft.com/office/drawing/2014/main" id="{FDD110DB-1623-9193-2A80-1322F840D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25" y="3187700"/>
            <a:ext cx="26527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Procedimiento imprimir</a:t>
            </a:r>
            <a:endParaRPr lang="es-AR" altLang="es-AR"/>
          </a:p>
        </p:txBody>
      </p:sp>
      <p:cxnSp>
        <p:nvCxnSpPr>
          <p:cNvPr id="21" name="Google Shape;219;p9">
            <a:extLst>
              <a:ext uri="{FF2B5EF4-FFF2-40B4-BE49-F238E27FC236}">
                <a16:creationId xmlns:a16="http://schemas.microsoft.com/office/drawing/2014/main" id="{F713B67E-C351-159A-FEF0-38BC93AB33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31188" y="4040188"/>
            <a:ext cx="2833687" cy="0"/>
          </a:xfrm>
          <a:prstGeom prst="straightConnector1">
            <a:avLst/>
          </a:prstGeom>
          <a:noFill/>
          <a:ln w="38100">
            <a:solidFill>
              <a:srgbClr val="76717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8683" name="Grupo 21">
            <a:extLst>
              <a:ext uri="{FF2B5EF4-FFF2-40B4-BE49-F238E27FC236}">
                <a16:creationId xmlns:a16="http://schemas.microsoft.com/office/drawing/2014/main" id="{4871742B-F478-3BBB-E132-6F98599154D7}"/>
              </a:ext>
            </a:extLst>
          </p:cNvPr>
          <p:cNvGrpSpPr>
            <a:grpSpLocks/>
          </p:cNvGrpSpPr>
          <p:nvPr/>
        </p:nvGrpSpPr>
        <p:grpSpPr bwMode="auto">
          <a:xfrm>
            <a:off x="6727825" y="1609725"/>
            <a:ext cx="4868863" cy="852488"/>
            <a:chOff x="290512" y="1484784"/>
            <a:chExt cx="4869384" cy="852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A5F81AAB-DCB1-1473-E90E-F8AE39D7940F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24" name="6 CuadroTexto">
              <a:extLst>
                <a:ext uri="{FF2B5EF4-FFF2-40B4-BE49-F238E27FC236}">
                  <a16:creationId xmlns:a16="http://schemas.microsoft.com/office/drawing/2014/main" id="{868D5EE8-CB3A-5B43-77FB-0D11DD51928A}"/>
                </a:ext>
              </a:extLst>
            </p:cNvPr>
            <p:cNvSpPr txBox="1"/>
            <p:nvPr/>
          </p:nvSpPr>
          <p:spPr bwMode="auto">
            <a:xfrm>
              <a:off x="595345" y="1556222"/>
              <a:ext cx="4175572" cy="70802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MEMORIA</a:t>
              </a:r>
            </a:p>
          </p:txBody>
        </p:sp>
      </p:grpSp>
      <p:sp>
        <p:nvSpPr>
          <p:cNvPr id="26" name="6 CuadroTexto">
            <a:extLst>
              <a:ext uri="{FF2B5EF4-FFF2-40B4-BE49-F238E27FC236}">
                <a16:creationId xmlns:a16="http://schemas.microsoft.com/office/drawing/2014/main" id="{2BDD443A-792E-3FD4-F7C1-D7AD82EA7452}"/>
              </a:ext>
            </a:extLst>
          </p:cNvPr>
          <p:cNvSpPr txBox="1"/>
          <p:nvPr/>
        </p:nvSpPr>
        <p:spPr bwMode="auto">
          <a:xfrm>
            <a:off x="5972175" y="5516563"/>
            <a:ext cx="6027738" cy="110807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Cuando se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invoca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él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procedimiento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se carga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memoria sus Código, sus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parámetros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y variables locales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/>
      <p:bldP spid="20" grpId="0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B0D73000-8910-312C-201D-41656C2857AD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9BC31F-DDD1-99D9-CEFF-3077C26635BB}"/>
              </a:ext>
            </a:extLst>
          </p:cNvPr>
          <p:cNvSpPr txBox="1"/>
          <p:nvPr/>
        </p:nvSpPr>
        <p:spPr>
          <a:xfrm>
            <a:off x="407988" y="328613"/>
            <a:ext cx="77851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30724" name="Grupo 8">
            <a:extLst>
              <a:ext uri="{FF2B5EF4-FFF2-40B4-BE49-F238E27FC236}">
                <a16:creationId xmlns:a16="http://schemas.microsoft.com/office/drawing/2014/main" id="{A78517DE-6B9D-4A18-6098-734E6FBE6F8B}"/>
              </a:ext>
            </a:extLst>
          </p:cNvPr>
          <p:cNvGrpSpPr>
            <a:grpSpLocks/>
          </p:cNvGrpSpPr>
          <p:nvPr/>
        </p:nvGrpSpPr>
        <p:grpSpPr bwMode="auto">
          <a:xfrm>
            <a:off x="290513" y="1708150"/>
            <a:ext cx="4868862" cy="852488"/>
            <a:chOff x="290512" y="1484784"/>
            <a:chExt cx="4869384" cy="852487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78D5C84-6938-D4D9-5069-609ADEBE68B0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15" name="6 CuadroTexto">
              <a:extLst>
                <a:ext uri="{FF2B5EF4-FFF2-40B4-BE49-F238E27FC236}">
                  <a16:creationId xmlns:a16="http://schemas.microsoft.com/office/drawing/2014/main" id="{4FFB8B6E-F556-A09B-F0B9-06A144B36722}"/>
                </a:ext>
              </a:extLst>
            </p:cNvPr>
            <p:cNvSpPr txBox="1"/>
            <p:nvPr/>
          </p:nvSpPr>
          <p:spPr bwMode="auto">
            <a:xfrm>
              <a:off x="595345" y="1556222"/>
              <a:ext cx="4175573" cy="70802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ALGORITMO RECURSIVO</a:t>
              </a:r>
            </a:p>
          </p:txBody>
        </p:sp>
      </p:grpSp>
      <p:sp>
        <p:nvSpPr>
          <p:cNvPr id="17" name="6 CuadroTexto">
            <a:extLst>
              <a:ext uri="{FF2B5EF4-FFF2-40B4-BE49-F238E27FC236}">
                <a16:creationId xmlns:a16="http://schemas.microsoft.com/office/drawing/2014/main" id="{65A617EE-37B6-56D4-4C95-00A790AEA906}"/>
              </a:ext>
            </a:extLst>
          </p:cNvPr>
          <p:cNvSpPr txBox="1"/>
          <p:nvPr/>
        </p:nvSpPr>
        <p:spPr bwMode="auto">
          <a:xfrm>
            <a:off x="263525" y="3005138"/>
            <a:ext cx="4752975" cy="313848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L:lista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(L &lt;&gt; nil) do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write (L^.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L:=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L^.sig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</a:t>
            </a:r>
            <a:r>
              <a:rPr lang="en-US" altLang="es-AR" sz="22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(L);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grpSp>
        <p:nvGrpSpPr>
          <p:cNvPr id="30726" name="Grupo 21">
            <a:extLst>
              <a:ext uri="{FF2B5EF4-FFF2-40B4-BE49-F238E27FC236}">
                <a16:creationId xmlns:a16="http://schemas.microsoft.com/office/drawing/2014/main" id="{4A0C1DAC-7FCC-4C0E-F167-5A3CC049613B}"/>
              </a:ext>
            </a:extLst>
          </p:cNvPr>
          <p:cNvGrpSpPr>
            <a:grpSpLocks/>
          </p:cNvGrpSpPr>
          <p:nvPr/>
        </p:nvGrpSpPr>
        <p:grpSpPr bwMode="auto">
          <a:xfrm>
            <a:off x="6727825" y="1609725"/>
            <a:ext cx="4868863" cy="852488"/>
            <a:chOff x="290512" y="1484784"/>
            <a:chExt cx="4869384" cy="852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E241EF04-32DB-4797-5685-EA4B81CEE619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24" name="6 CuadroTexto">
              <a:extLst>
                <a:ext uri="{FF2B5EF4-FFF2-40B4-BE49-F238E27FC236}">
                  <a16:creationId xmlns:a16="http://schemas.microsoft.com/office/drawing/2014/main" id="{FAF1B637-B021-5196-2BD8-CD9DA3F29520}"/>
                </a:ext>
              </a:extLst>
            </p:cNvPr>
            <p:cNvSpPr txBox="1"/>
            <p:nvPr/>
          </p:nvSpPr>
          <p:spPr bwMode="auto">
            <a:xfrm>
              <a:off x="595345" y="1556222"/>
              <a:ext cx="4175572" cy="70802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MEMORIA</a:t>
              </a:r>
            </a:p>
          </p:txBody>
        </p:sp>
      </p:grpSp>
      <p:sp>
        <p:nvSpPr>
          <p:cNvPr id="8" name="Google Shape;218;p9">
            <a:extLst>
              <a:ext uri="{FF2B5EF4-FFF2-40B4-BE49-F238E27FC236}">
                <a16:creationId xmlns:a16="http://schemas.microsoft.com/office/drawing/2014/main" id="{249EFDF6-82AC-8B3E-BB83-F6EB8DB64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188" y="2997200"/>
            <a:ext cx="2833687" cy="2376488"/>
          </a:xfrm>
          <a:prstGeom prst="rect">
            <a:avLst/>
          </a:prstGeom>
          <a:noFill/>
          <a:ln w="38100">
            <a:solidFill>
              <a:srgbClr val="76717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grpSp>
        <p:nvGrpSpPr>
          <p:cNvPr id="10" name="Google Shape;222;p9">
            <a:extLst>
              <a:ext uri="{FF2B5EF4-FFF2-40B4-BE49-F238E27FC236}">
                <a16:creationId xmlns:a16="http://schemas.microsoft.com/office/drawing/2014/main" id="{03833DBC-8F5E-416F-F55E-87F9434D5238}"/>
              </a:ext>
            </a:extLst>
          </p:cNvPr>
          <p:cNvGrpSpPr>
            <a:grpSpLocks/>
          </p:cNvGrpSpPr>
          <p:nvPr/>
        </p:nvGrpSpPr>
        <p:grpSpPr bwMode="auto">
          <a:xfrm>
            <a:off x="7440613" y="3143250"/>
            <a:ext cx="701675" cy="1628775"/>
            <a:chOff x="6244683" y="1456496"/>
            <a:chExt cx="701573" cy="1628677"/>
          </a:xfrm>
        </p:grpSpPr>
        <p:cxnSp>
          <p:nvCxnSpPr>
            <p:cNvPr id="30733" name="Google Shape;223;p9">
              <a:extLst>
                <a:ext uri="{FF2B5EF4-FFF2-40B4-BE49-F238E27FC236}">
                  <a16:creationId xmlns:a16="http://schemas.microsoft.com/office/drawing/2014/main" id="{1AF7AFE9-7DF6-0E0D-CB82-183BACD362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244683" y="3066124"/>
              <a:ext cx="669828" cy="0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4" name="Google Shape;224;p9">
              <a:extLst>
                <a:ext uri="{FF2B5EF4-FFF2-40B4-BE49-F238E27FC236}">
                  <a16:creationId xmlns:a16="http://schemas.microsoft.com/office/drawing/2014/main" id="{E83C127D-594D-531D-8E70-EE193C4ABB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3730" y="1456496"/>
              <a:ext cx="0" cy="1628677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5" name="Google Shape;225;p9">
              <a:extLst>
                <a:ext uri="{FF2B5EF4-FFF2-40B4-BE49-F238E27FC236}">
                  <a16:creationId xmlns:a16="http://schemas.microsoft.com/office/drawing/2014/main" id="{D814546F-A625-EEC1-D0B4-D1A25AF885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3730" y="1456496"/>
              <a:ext cx="682526" cy="0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" name="Google Shape;220;p9">
            <a:extLst>
              <a:ext uri="{FF2B5EF4-FFF2-40B4-BE49-F238E27FC236}">
                <a16:creationId xmlns:a16="http://schemas.microsoft.com/office/drawing/2014/main" id="{D6BAB122-B312-4EC2-1CD2-75D8BC89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638" y="4437063"/>
            <a:ext cx="2654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Variables del programa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principal</a:t>
            </a:r>
            <a:endParaRPr lang="es-AR" altLang="es-AR"/>
          </a:p>
        </p:txBody>
      </p:sp>
      <p:sp>
        <p:nvSpPr>
          <p:cNvPr id="28" name="Google Shape;221;p9">
            <a:extLst>
              <a:ext uri="{FF2B5EF4-FFF2-40B4-BE49-F238E27FC236}">
                <a16:creationId xmlns:a16="http://schemas.microsoft.com/office/drawing/2014/main" id="{1B30F77C-2DF5-BEA3-3EF4-8BF7D7834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25" y="3187700"/>
            <a:ext cx="26527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Procedimiento imprimir</a:t>
            </a:r>
            <a:endParaRPr lang="es-AR" altLang="es-AR"/>
          </a:p>
        </p:txBody>
      </p:sp>
      <p:cxnSp>
        <p:nvCxnSpPr>
          <p:cNvPr id="29" name="Google Shape;219;p9">
            <a:extLst>
              <a:ext uri="{FF2B5EF4-FFF2-40B4-BE49-F238E27FC236}">
                <a16:creationId xmlns:a16="http://schemas.microsoft.com/office/drawing/2014/main" id="{BA4107E1-3618-9084-15B7-32F947E42A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31188" y="4040188"/>
            <a:ext cx="2833687" cy="0"/>
          </a:xfrm>
          <a:prstGeom prst="straightConnector1">
            <a:avLst/>
          </a:prstGeom>
          <a:noFill/>
          <a:ln w="38100">
            <a:solidFill>
              <a:srgbClr val="76717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6 CuadroTexto">
            <a:extLst>
              <a:ext uri="{FF2B5EF4-FFF2-40B4-BE49-F238E27FC236}">
                <a16:creationId xmlns:a16="http://schemas.microsoft.com/office/drawing/2014/main" id="{E5FBC9EA-F165-67CB-B8B6-2C2045A8BAF8}"/>
              </a:ext>
            </a:extLst>
          </p:cNvPr>
          <p:cNvSpPr txBox="1"/>
          <p:nvPr/>
        </p:nvSpPr>
        <p:spPr bwMode="auto">
          <a:xfrm>
            <a:off x="5972175" y="5516563"/>
            <a:ext cx="6027738" cy="110807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Cuando se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invoca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él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procedimiento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se carga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memoria sus Código, sus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parámetros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y variables locales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7" grpId="0"/>
      <p:bldP spid="28" grpId="0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3C7B615C-A603-3158-E9AC-3B9A9A770475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1D374E-D4FB-72D0-3F0A-7C11EB81EA2A}"/>
              </a:ext>
            </a:extLst>
          </p:cNvPr>
          <p:cNvSpPr txBox="1"/>
          <p:nvPr/>
        </p:nvSpPr>
        <p:spPr>
          <a:xfrm>
            <a:off x="407988" y="328613"/>
            <a:ext cx="1036002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 - Ejemplo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6 CuadroTexto">
            <a:extLst>
              <a:ext uri="{FF2B5EF4-FFF2-40B4-BE49-F238E27FC236}">
                <a16:creationId xmlns:a16="http://schemas.microsoft.com/office/drawing/2014/main" id="{DE9A3DA7-F770-245A-A63D-77BD0BC3A64A}"/>
              </a:ext>
            </a:extLst>
          </p:cNvPr>
          <p:cNvSpPr txBox="1"/>
          <p:nvPr/>
        </p:nvSpPr>
        <p:spPr bwMode="auto">
          <a:xfrm>
            <a:off x="550863" y="3021013"/>
            <a:ext cx="3529012" cy="313848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 uno;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Var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num:integer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endParaRPr lang="en-US" altLang="es-AR" sz="22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read (num);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(num &gt; 0) then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(num);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End.</a:t>
            </a:r>
          </a:p>
        </p:txBody>
      </p:sp>
      <p:sp>
        <p:nvSpPr>
          <p:cNvPr id="19" name="6 CuadroTexto">
            <a:extLst>
              <a:ext uri="{FF2B5EF4-FFF2-40B4-BE49-F238E27FC236}">
                <a16:creationId xmlns:a16="http://schemas.microsoft.com/office/drawing/2014/main" id="{8CDE782A-D850-9C4C-7176-0EC7E673B571}"/>
              </a:ext>
            </a:extLst>
          </p:cNvPr>
          <p:cNvSpPr txBox="1"/>
          <p:nvPr/>
        </p:nvSpPr>
        <p:spPr bwMode="auto">
          <a:xfrm>
            <a:off x="355600" y="1508125"/>
            <a:ext cx="11501438" cy="11080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Ejercicio</a:t>
            </a:r>
            <a:r>
              <a:rPr lang="en-US" altLang="es-AR" sz="22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Realice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un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lea un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num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invoque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a un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procedimiento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dado el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leído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imprime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todos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los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desde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num hasta 1.</a:t>
            </a:r>
          </a:p>
        </p:txBody>
      </p:sp>
    </p:spTree>
  </p:cSld>
  <p:clrMapOvr>
    <a:masterClrMapping/>
  </p:clrMapOvr>
  <p:transition spd="slow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F23105C7-5F62-8141-FBE1-F5EBD4135E2E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5E3F21-9BC1-D400-FD05-51489846D92D}"/>
              </a:ext>
            </a:extLst>
          </p:cNvPr>
          <p:cNvSpPr txBox="1"/>
          <p:nvPr/>
        </p:nvSpPr>
        <p:spPr>
          <a:xfrm>
            <a:off x="407988" y="328613"/>
            <a:ext cx="1036002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 - Ejemplo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6 CuadroTexto">
            <a:extLst>
              <a:ext uri="{FF2B5EF4-FFF2-40B4-BE49-F238E27FC236}">
                <a16:creationId xmlns:a16="http://schemas.microsoft.com/office/drawing/2014/main" id="{D187EFC3-0DBD-D766-598D-852F09556A34}"/>
              </a:ext>
            </a:extLst>
          </p:cNvPr>
          <p:cNvSpPr txBox="1"/>
          <p:nvPr/>
        </p:nvSpPr>
        <p:spPr bwMode="auto">
          <a:xfrm>
            <a:off x="330200" y="2708275"/>
            <a:ext cx="5565775" cy="31400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num:integer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(num &gt; 0) then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write (num);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num:= num – 1;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(num);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sp>
        <p:nvSpPr>
          <p:cNvPr id="19" name="6 CuadroTexto">
            <a:extLst>
              <a:ext uri="{FF2B5EF4-FFF2-40B4-BE49-F238E27FC236}">
                <a16:creationId xmlns:a16="http://schemas.microsoft.com/office/drawing/2014/main" id="{31820017-A6E0-045A-1EFD-856872052F2E}"/>
              </a:ext>
            </a:extLst>
          </p:cNvPr>
          <p:cNvSpPr txBox="1"/>
          <p:nvPr/>
        </p:nvSpPr>
        <p:spPr bwMode="auto">
          <a:xfrm>
            <a:off x="355600" y="1508125"/>
            <a:ext cx="11501438" cy="96996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19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Ejercicio</a:t>
            </a:r>
            <a:r>
              <a:rPr lang="en-US" altLang="es-AR" sz="19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Realice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lea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num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a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procedimiento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recursive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dado el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leído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todos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desde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num hasta 1.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Supongamos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se lee num = 4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0222CAA-476E-F11D-83BD-769941C9B071}"/>
              </a:ext>
            </a:extLst>
          </p:cNvPr>
          <p:cNvGrpSpPr>
            <a:grpSpLocks/>
          </p:cNvGrpSpPr>
          <p:nvPr/>
        </p:nvGrpSpPr>
        <p:grpSpPr bwMode="auto">
          <a:xfrm>
            <a:off x="263525" y="5889625"/>
            <a:ext cx="3311525" cy="852488"/>
            <a:chOff x="290512" y="1484784"/>
            <a:chExt cx="4869384" cy="852487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554E2F2-E394-FC48-51AA-B5A9E904EC67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11" name="6 CuadroTexto">
              <a:extLst>
                <a:ext uri="{FF2B5EF4-FFF2-40B4-BE49-F238E27FC236}">
                  <a16:creationId xmlns:a16="http://schemas.microsoft.com/office/drawing/2014/main" id="{111EF1B3-C581-5F56-8DC5-B17FB2ADEBFC}"/>
                </a:ext>
              </a:extLst>
            </p:cNvPr>
            <p:cNvSpPr txBox="1"/>
            <p:nvPr/>
          </p:nvSpPr>
          <p:spPr bwMode="auto">
            <a:xfrm>
              <a:off x="593973" y="1556222"/>
              <a:ext cx="4176093" cy="70802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Parámetros?</a:t>
              </a:r>
            </a:p>
          </p:txBody>
        </p:sp>
      </p:grpSp>
      <p:sp>
        <p:nvSpPr>
          <p:cNvPr id="12" name="Google Shape;252;p10">
            <a:extLst>
              <a:ext uri="{FF2B5EF4-FFF2-40B4-BE49-F238E27FC236}">
                <a16:creationId xmlns:a16="http://schemas.microsoft.com/office/drawing/2014/main" id="{3C721DBA-AFC0-6619-A6A2-C30F3A1CFE39}"/>
              </a:ext>
            </a:extLst>
          </p:cNvPr>
          <p:cNvSpPr txBox="1"/>
          <p:nvPr/>
        </p:nvSpPr>
        <p:spPr>
          <a:xfrm>
            <a:off x="7032625" y="2420938"/>
            <a:ext cx="5040313" cy="8636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4,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4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3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" name="Google Shape;253;p10">
            <a:extLst>
              <a:ext uri="{FF2B5EF4-FFF2-40B4-BE49-F238E27FC236}">
                <a16:creationId xmlns:a16="http://schemas.microsoft.com/office/drawing/2014/main" id="{7C108B37-BBA7-C9AD-F1B3-FD84F9BCB544}"/>
              </a:ext>
            </a:extLst>
          </p:cNvPr>
          <p:cNvSpPr txBox="1"/>
          <p:nvPr/>
        </p:nvSpPr>
        <p:spPr>
          <a:xfrm>
            <a:off x="7032625" y="3357563"/>
            <a:ext cx="5040313" cy="8636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3,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3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2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4" name="Google Shape;254;p10">
            <a:extLst>
              <a:ext uri="{FF2B5EF4-FFF2-40B4-BE49-F238E27FC236}">
                <a16:creationId xmlns:a16="http://schemas.microsoft.com/office/drawing/2014/main" id="{B1EA94B2-B063-248C-AF7E-6A6A257164EF}"/>
              </a:ext>
            </a:extLst>
          </p:cNvPr>
          <p:cNvSpPr txBox="1"/>
          <p:nvPr/>
        </p:nvSpPr>
        <p:spPr>
          <a:xfrm>
            <a:off x="7032625" y="4292600"/>
            <a:ext cx="5040313" cy="865188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2,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2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1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6" name="Google Shape;255;p10">
            <a:extLst>
              <a:ext uri="{FF2B5EF4-FFF2-40B4-BE49-F238E27FC236}">
                <a16:creationId xmlns:a16="http://schemas.microsoft.com/office/drawing/2014/main" id="{9D16747E-4146-04AD-4561-152252901C4A}"/>
              </a:ext>
            </a:extLst>
          </p:cNvPr>
          <p:cNvSpPr txBox="1"/>
          <p:nvPr/>
        </p:nvSpPr>
        <p:spPr>
          <a:xfrm>
            <a:off x="7032625" y="5229225"/>
            <a:ext cx="5040313" cy="8636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1,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0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0" name="Google Shape;256;p10">
            <a:extLst>
              <a:ext uri="{FF2B5EF4-FFF2-40B4-BE49-F238E27FC236}">
                <a16:creationId xmlns:a16="http://schemas.microsoft.com/office/drawing/2014/main" id="{3623A7A5-702E-9FD5-4F3E-C29D62467A43}"/>
              </a:ext>
            </a:extLst>
          </p:cNvPr>
          <p:cNvSpPr txBox="1"/>
          <p:nvPr/>
        </p:nvSpPr>
        <p:spPr>
          <a:xfrm>
            <a:off x="7032625" y="6308725"/>
            <a:ext cx="5040313" cy="430213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0,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no </a:t>
            </a:r>
            <a:r>
              <a:rPr lang="en-US" sz="2200" b="1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hace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nada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" name="Flecha: curvada hacia la derecha 21">
            <a:extLst>
              <a:ext uri="{FF2B5EF4-FFF2-40B4-BE49-F238E27FC236}">
                <a16:creationId xmlns:a16="http://schemas.microsoft.com/office/drawing/2014/main" id="{98BC8D0D-FFD0-AC02-C4E1-8AB29D268BEC}"/>
              </a:ext>
            </a:extLst>
          </p:cNvPr>
          <p:cNvSpPr/>
          <p:nvPr/>
        </p:nvSpPr>
        <p:spPr>
          <a:xfrm rot="10959633" flipH="1">
            <a:off x="6126163" y="5470525"/>
            <a:ext cx="731837" cy="1217613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24" name="Flecha: curvada hacia la derecha 23">
            <a:extLst>
              <a:ext uri="{FF2B5EF4-FFF2-40B4-BE49-F238E27FC236}">
                <a16:creationId xmlns:a16="http://schemas.microsoft.com/office/drawing/2014/main" id="{E5948D61-439B-3567-79C8-F268683BA466}"/>
              </a:ext>
            </a:extLst>
          </p:cNvPr>
          <p:cNvSpPr/>
          <p:nvPr/>
        </p:nvSpPr>
        <p:spPr>
          <a:xfrm rot="10959633" flipH="1">
            <a:off x="6099175" y="4294188"/>
            <a:ext cx="731838" cy="1217612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25" name="Flecha: curvada hacia la derecha 24">
            <a:extLst>
              <a:ext uri="{FF2B5EF4-FFF2-40B4-BE49-F238E27FC236}">
                <a16:creationId xmlns:a16="http://schemas.microsoft.com/office/drawing/2014/main" id="{DD21FE0C-FFE7-A9F0-937B-7CF24F59C27C}"/>
              </a:ext>
            </a:extLst>
          </p:cNvPr>
          <p:cNvSpPr/>
          <p:nvPr/>
        </p:nvSpPr>
        <p:spPr>
          <a:xfrm rot="10959633" flipH="1">
            <a:off x="6049963" y="2293938"/>
            <a:ext cx="742950" cy="969962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26" name="Flecha: curvada hacia la derecha 25">
            <a:extLst>
              <a:ext uri="{FF2B5EF4-FFF2-40B4-BE49-F238E27FC236}">
                <a16:creationId xmlns:a16="http://schemas.microsoft.com/office/drawing/2014/main" id="{263D2865-C5DB-F6EC-78B9-FCC6E8AB39D9}"/>
              </a:ext>
            </a:extLst>
          </p:cNvPr>
          <p:cNvSpPr/>
          <p:nvPr/>
        </p:nvSpPr>
        <p:spPr>
          <a:xfrm rot="10959633" flipH="1">
            <a:off x="6056313" y="3016250"/>
            <a:ext cx="731837" cy="1216025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20" grpId="0" animBg="1"/>
      <p:bldP spid="20" grpId="1" animBg="1"/>
      <p:bldP spid="22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3D6EAD92-4340-9138-8402-F6968DCA587D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9C6F89-C632-C438-AD2B-797F753431F6}"/>
              </a:ext>
            </a:extLst>
          </p:cNvPr>
          <p:cNvSpPr txBox="1"/>
          <p:nvPr/>
        </p:nvSpPr>
        <p:spPr>
          <a:xfrm>
            <a:off x="407988" y="328613"/>
            <a:ext cx="1036002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 - Ejemplo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6 CuadroTexto">
            <a:extLst>
              <a:ext uri="{FF2B5EF4-FFF2-40B4-BE49-F238E27FC236}">
                <a16:creationId xmlns:a16="http://schemas.microsoft.com/office/drawing/2014/main" id="{5648F93E-6744-6016-F6DE-E61A1140ED4E}"/>
              </a:ext>
            </a:extLst>
          </p:cNvPr>
          <p:cNvSpPr txBox="1"/>
          <p:nvPr/>
        </p:nvSpPr>
        <p:spPr bwMode="auto">
          <a:xfrm>
            <a:off x="47625" y="2708275"/>
            <a:ext cx="6048375" cy="31400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num:integer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(num &gt; 0) then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write (num);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num:= num – 1;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(num);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sp>
        <p:nvSpPr>
          <p:cNvPr id="19" name="6 CuadroTexto">
            <a:extLst>
              <a:ext uri="{FF2B5EF4-FFF2-40B4-BE49-F238E27FC236}">
                <a16:creationId xmlns:a16="http://schemas.microsoft.com/office/drawing/2014/main" id="{6B1DB7F3-4FAE-0C6E-1DF3-153CDFC0F59F}"/>
              </a:ext>
            </a:extLst>
          </p:cNvPr>
          <p:cNvSpPr txBox="1"/>
          <p:nvPr/>
        </p:nvSpPr>
        <p:spPr bwMode="auto">
          <a:xfrm>
            <a:off x="263525" y="1508125"/>
            <a:ext cx="11501438" cy="96996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19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Ejercicio</a:t>
            </a:r>
            <a:r>
              <a:rPr lang="en-US" altLang="es-AR" sz="19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Realice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lea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num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a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procedimiento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recursivo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dado el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leído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todos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números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desde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num hasta 1.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Supongamos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se lee num = 4</a:t>
            </a:r>
          </a:p>
        </p:txBody>
      </p:sp>
      <p:grpSp>
        <p:nvGrpSpPr>
          <p:cNvPr id="36877" name="Grupo 19">
            <a:extLst>
              <a:ext uri="{FF2B5EF4-FFF2-40B4-BE49-F238E27FC236}">
                <a16:creationId xmlns:a16="http://schemas.microsoft.com/office/drawing/2014/main" id="{CF74E475-BCBB-D337-AE4B-050DD373E799}"/>
              </a:ext>
            </a:extLst>
          </p:cNvPr>
          <p:cNvGrpSpPr>
            <a:grpSpLocks/>
          </p:cNvGrpSpPr>
          <p:nvPr/>
        </p:nvGrpSpPr>
        <p:grpSpPr bwMode="auto">
          <a:xfrm>
            <a:off x="155575" y="6016625"/>
            <a:ext cx="5688013" cy="720725"/>
            <a:chOff x="342765" y="1465392"/>
            <a:chExt cx="4732227" cy="720000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57C36C4E-21B1-F143-F441-77BE6F640380}"/>
                </a:ext>
              </a:extLst>
            </p:cNvPr>
            <p:cNvSpPr/>
            <p:nvPr/>
          </p:nvSpPr>
          <p:spPr bwMode="auto">
            <a:xfrm>
              <a:off x="371821" y="1465392"/>
              <a:ext cx="4703171" cy="720000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 sz="1000" dirty="0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22" name="6 CuadroTexto">
              <a:extLst>
                <a:ext uri="{FF2B5EF4-FFF2-40B4-BE49-F238E27FC236}">
                  <a16:creationId xmlns:a16="http://schemas.microsoft.com/office/drawing/2014/main" id="{D3204AFD-53F6-EE84-D540-89B30DEF781C}"/>
                </a:ext>
              </a:extLst>
            </p:cNvPr>
            <p:cNvSpPr txBox="1"/>
            <p:nvPr/>
          </p:nvSpPr>
          <p:spPr bwMode="auto">
            <a:xfrm>
              <a:off x="342765" y="1549445"/>
              <a:ext cx="4732227" cy="555066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3000" dirty="0" err="1">
                  <a:latin typeface="Agency FB" panose="020B0503020202020204" pitchFamily="34" charset="0"/>
                </a:rPr>
                <a:t>Num</a:t>
              </a:r>
              <a:r>
                <a:rPr lang="es-ES_tradnl" sz="3000" dirty="0">
                  <a:latin typeface="Agency FB" panose="020B0503020202020204" pitchFamily="34" charset="0"/>
                </a:rPr>
                <a:t> = 0 cuando vuelve al programa principal</a:t>
              </a:r>
            </a:p>
          </p:txBody>
        </p:sp>
      </p:grpSp>
      <p:sp>
        <p:nvSpPr>
          <p:cNvPr id="9" name="Google Shape;252;p10">
            <a:extLst>
              <a:ext uri="{FF2B5EF4-FFF2-40B4-BE49-F238E27FC236}">
                <a16:creationId xmlns:a16="http://schemas.microsoft.com/office/drawing/2014/main" id="{337833AD-5D47-08F6-6787-785D4D895BA3}"/>
              </a:ext>
            </a:extLst>
          </p:cNvPr>
          <p:cNvSpPr txBox="1"/>
          <p:nvPr/>
        </p:nvSpPr>
        <p:spPr>
          <a:xfrm>
            <a:off x="7032625" y="2420938"/>
            <a:ext cx="5040313" cy="8636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4,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4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3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" name="Google Shape;253;p10">
            <a:extLst>
              <a:ext uri="{FF2B5EF4-FFF2-40B4-BE49-F238E27FC236}">
                <a16:creationId xmlns:a16="http://schemas.microsoft.com/office/drawing/2014/main" id="{8A5F7B64-051B-D980-0DF2-33B478AE2F7A}"/>
              </a:ext>
            </a:extLst>
          </p:cNvPr>
          <p:cNvSpPr txBox="1"/>
          <p:nvPr/>
        </p:nvSpPr>
        <p:spPr>
          <a:xfrm>
            <a:off x="7032625" y="3357563"/>
            <a:ext cx="5040313" cy="8636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3,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3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2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" name="Google Shape;254;p10">
            <a:extLst>
              <a:ext uri="{FF2B5EF4-FFF2-40B4-BE49-F238E27FC236}">
                <a16:creationId xmlns:a16="http://schemas.microsoft.com/office/drawing/2014/main" id="{0CC049EE-D453-71BD-358A-283EE089475F}"/>
              </a:ext>
            </a:extLst>
          </p:cNvPr>
          <p:cNvSpPr txBox="1"/>
          <p:nvPr/>
        </p:nvSpPr>
        <p:spPr>
          <a:xfrm>
            <a:off x="7032625" y="4292600"/>
            <a:ext cx="5040313" cy="865188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2,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2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1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2" name="Google Shape;255;p10">
            <a:extLst>
              <a:ext uri="{FF2B5EF4-FFF2-40B4-BE49-F238E27FC236}">
                <a16:creationId xmlns:a16="http://schemas.microsoft.com/office/drawing/2014/main" id="{12914A05-C4FB-560F-3F51-AA4FC50744D6}"/>
              </a:ext>
            </a:extLst>
          </p:cNvPr>
          <p:cNvSpPr txBox="1"/>
          <p:nvPr/>
        </p:nvSpPr>
        <p:spPr>
          <a:xfrm>
            <a:off x="7032625" y="5229225"/>
            <a:ext cx="5040313" cy="863600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1, </a:t>
            </a:r>
            <a:r>
              <a:rPr lang="en-U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imprime</a:t>
            </a:r>
            <a:r>
              <a:rPr lang="en-U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110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Consolas"/>
              <a:buNone/>
              <a:defRPr/>
            </a:pPr>
            <a:r>
              <a:rPr lang="en-US" sz="2200" b="1" dirty="0">
                <a:solidFill>
                  <a:srgbClr val="FF0066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 := 0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4" name="Google Shape;256;p10">
            <a:extLst>
              <a:ext uri="{FF2B5EF4-FFF2-40B4-BE49-F238E27FC236}">
                <a16:creationId xmlns:a16="http://schemas.microsoft.com/office/drawing/2014/main" id="{E60C9247-C1B1-190E-AAE2-1571DC5E228A}"/>
              </a:ext>
            </a:extLst>
          </p:cNvPr>
          <p:cNvSpPr txBox="1"/>
          <p:nvPr/>
        </p:nvSpPr>
        <p:spPr>
          <a:xfrm>
            <a:off x="7032625" y="6308725"/>
            <a:ext cx="5040313" cy="430213"/>
          </a:xfrm>
          <a:prstGeom prst="rect">
            <a:avLst/>
          </a:prstGeom>
          <a:noFill/>
          <a:ln w="9525" cap="flat" cmpd="sng">
            <a:solidFill>
              <a:schemeClr val="accent6">
                <a:lumMod val="7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spcFirstLastPara="1" lIns="91425" tIns="45700" rIns="91425" bIns="45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Consolas"/>
              <a:buNone/>
              <a:defRPr/>
            </a:pPr>
            <a:r>
              <a:rPr lang="en-US" sz="2200" b="1" dirty="0" err="1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n-US" sz="2200" b="1" dirty="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num = 0, 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no </a:t>
            </a:r>
            <a:r>
              <a:rPr lang="en-US" sz="2200" b="1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hace</a:t>
            </a:r>
            <a:r>
              <a:rPr lang="en-U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nada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6" name="Flecha: curvada hacia la derecha 15">
            <a:extLst>
              <a:ext uri="{FF2B5EF4-FFF2-40B4-BE49-F238E27FC236}">
                <a16:creationId xmlns:a16="http://schemas.microsoft.com/office/drawing/2014/main" id="{B0C92E42-98A8-319D-EA00-1DD053DA6195}"/>
              </a:ext>
            </a:extLst>
          </p:cNvPr>
          <p:cNvSpPr/>
          <p:nvPr/>
        </p:nvSpPr>
        <p:spPr>
          <a:xfrm rot="10959633" flipH="1">
            <a:off x="6126163" y="5470525"/>
            <a:ext cx="731837" cy="1217613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20" name="Flecha: curvada hacia la derecha 19">
            <a:extLst>
              <a:ext uri="{FF2B5EF4-FFF2-40B4-BE49-F238E27FC236}">
                <a16:creationId xmlns:a16="http://schemas.microsoft.com/office/drawing/2014/main" id="{1F938147-D46D-1F21-5940-85741664C053}"/>
              </a:ext>
            </a:extLst>
          </p:cNvPr>
          <p:cNvSpPr/>
          <p:nvPr/>
        </p:nvSpPr>
        <p:spPr>
          <a:xfrm rot="10959633" flipH="1">
            <a:off x="6099175" y="4294188"/>
            <a:ext cx="731838" cy="1217612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23" name="Flecha: curvada hacia la derecha 22">
            <a:extLst>
              <a:ext uri="{FF2B5EF4-FFF2-40B4-BE49-F238E27FC236}">
                <a16:creationId xmlns:a16="http://schemas.microsoft.com/office/drawing/2014/main" id="{25941324-0DD9-25AB-1ABA-BFA2F0381635}"/>
              </a:ext>
            </a:extLst>
          </p:cNvPr>
          <p:cNvSpPr/>
          <p:nvPr/>
        </p:nvSpPr>
        <p:spPr>
          <a:xfrm rot="10959633" flipH="1">
            <a:off x="6049963" y="2293938"/>
            <a:ext cx="742950" cy="969962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25" name="Flecha: curvada hacia la derecha 24">
            <a:extLst>
              <a:ext uri="{FF2B5EF4-FFF2-40B4-BE49-F238E27FC236}">
                <a16:creationId xmlns:a16="http://schemas.microsoft.com/office/drawing/2014/main" id="{BBEFA76D-A74E-12D1-BD48-62CC04A3A55F}"/>
              </a:ext>
            </a:extLst>
          </p:cNvPr>
          <p:cNvSpPr/>
          <p:nvPr/>
        </p:nvSpPr>
        <p:spPr>
          <a:xfrm rot="10959633" flipH="1">
            <a:off x="6056313" y="3016250"/>
            <a:ext cx="731837" cy="1216025"/>
          </a:xfrm>
          <a:prstGeom prst="curvedRightArrow">
            <a:avLst/>
          </a:prstGeom>
          <a:solidFill>
            <a:schemeClr val="accent4"/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chemeClr val="tx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7DEA975-10F8-5594-33AB-1B861FE56624}"/>
              </a:ext>
            </a:extLst>
          </p:cNvPr>
          <p:cNvSpPr/>
          <p:nvPr/>
        </p:nvSpPr>
        <p:spPr>
          <a:xfrm>
            <a:off x="9840913" y="5661025"/>
            <a:ext cx="1511300" cy="36036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>
                <a:solidFill>
                  <a:schemeClr val="accent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num := 0</a:t>
            </a:r>
            <a:endParaRPr lang="en-US" sz="22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algn="ctr">
              <a:defRPr/>
            </a:pPr>
            <a:endParaRPr lang="es-AR" dirty="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7 L -0.00299 -0.1261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0.12268 L -0.00299 -0.25718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0.24653 L -0.00299 -0.38796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6" grpId="0" animBg="1"/>
      <p:bldP spid="20" grpId="0" animBg="1"/>
      <p:bldP spid="23" grpId="0" animBg="1"/>
      <p:bldP spid="25" grpId="0" animBg="1"/>
      <p:bldP spid="2" grpId="0" animBg="1"/>
      <p:bldP spid="2" grpId="1" animBg="1"/>
      <p:bldP spid="2" grpId="2" animBg="1"/>
      <p:bldP spid="2" grpId="3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8518AA9F-7AAB-039C-300C-9B5AD557DB21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F6B18C8-0811-5286-6AA6-D4B4EEE36242}"/>
              </a:ext>
            </a:extLst>
          </p:cNvPr>
          <p:cNvSpPr txBox="1"/>
          <p:nvPr/>
        </p:nvSpPr>
        <p:spPr>
          <a:xfrm>
            <a:off x="407988" y="328613"/>
            <a:ext cx="1036002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 - Ejemplo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6 CuadroTexto">
            <a:extLst>
              <a:ext uri="{FF2B5EF4-FFF2-40B4-BE49-F238E27FC236}">
                <a16:creationId xmlns:a16="http://schemas.microsoft.com/office/drawing/2014/main" id="{5D27E8CB-913F-0BE2-C87E-A30E56CEE3BF}"/>
              </a:ext>
            </a:extLst>
          </p:cNvPr>
          <p:cNvSpPr txBox="1"/>
          <p:nvPr/>
        </p:nvSpPr>
        <p:spPr bwMode="auto">
          <a:xfrm>
            <a:off x="1343025" y="2560638"/>
            <a:ext cx="6048375" cy="409416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dos: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Type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= ^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nodo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  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nodo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= record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dato:integer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sig: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Var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pri:lista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cargarLista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pri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pri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End.</a:t>
            </a:r>
          </a:p>
        </p:txBody>
      </p:sp>
      <p:sp>
        <p:nvSpPr>
          <p:cNvPr id="19" name="6 CuadroTexto">
            <a:extLst>
              <a:ext uri="{FF2B5EF4-FFF2-40B4-BE49-F238E27FC236}">
                <a16:creationId xmlns:a16="http://schemas.microsoft.com/office/drawing/2014/main" id="{453AD8D3-D4AA-5E73-3B5C-F03CF42C17EA}"/>
              </a:ext>
            </a:extLst>
          </p:cNvPr>
          <p:cNvSpPr txBox="1"/>
          <p:nvPr/>
        </p:nvSpPr>
        <p:spPr bwMode="auto">
          <a:xfrm>
            <a:off x="263525" y="1508125"/>
            <a:ext cx="11501438" cy="96996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19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Ejercicio</a:t>
            </a:r>
            <a:r>
              <a:rPr lang="en-US" altLang="es-AR" sz="19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Realice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dada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una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a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procedimiento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recursive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elementos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de la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endParaRPr lang="en-US" altLang="es-AR" sz="19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Supongamos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la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se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generó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con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los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valores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4 10 7</a:t>
            </a:r>
          </a:p>
        </p:txBody>
      </p:sp>
    </p:spTree>
  </p:cSld>
  <p:clrMapOvr>
    <a:masterClrMapping/>
  </p:clrMapOvr>
  <p:transition spd="slow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D1BFCAF8-8505-1917-0A9D-3926C1B10CBB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80E5C9-9C6F-0555-236C-D804040B34E3}"/>
              </a:ext>
            </a:extLst>
          </p:cNvPr>
          <p:cNvSpPr txBox="1"/>
          <p:nvPr/>
        </p:nvSpPr>
        <p:spPr>
          <a:xfrm>
            <a:off x="407988" y="328613"/>
            <a:ext cx="1036002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 - Ejemplo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6 CuadroTexto">
            <a:extLst>
              <a:ext uri="{FF2B5EF4-FFF2-40B4-BE49-F238E27FC236}">
                <a16:creationId xmlns:a16="http://schemas.microsoft.com/office/drawing/2014/main" id="{FD6C3184-18BA-6E33-6ED2-25CC09B14801}"/>
              </a:ext>
            </a:extLst>
          </p:cNvPr>
          <p:cNvSpPr txBox="1"/>
          <p:nvPr/>
        </p:nvSpPr>
        <p:spPr bwMode="auto">
          <a:xfrm>
            <a:off x="119063" y="2881313"/>
            <a:ext cx="4824412" cy="31400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Procedure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L:lista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(L &lt;&gt; nil) then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write (L^.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dato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L:=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L^.sig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imprimir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(L);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sp>
        <p:nvSpPr>
          <p:cNvPr id="10" name="6 CuadroTexto">
            <a:extLst>
              <a:ext uri="{FF2B5EF4-FFF2-40B4-BE49-F238E27FC236}">
                <a16:creationId xmlns:a16="http://schemas.microsoft.com/office/drawing/2014/main" id="{EB47C61A-949C-66BD-7D43-1EB6E112F3DA}"/>
              </a:ext>
            </a:extLst>
          </p:cNvPr>
          <p:cNvSpPr txBox="1"/>
          <p:nvPr/>
        </p:nvSpPr>
        <p:spPr bwMode="auto">
          <a:xfrm>
            <a:off x="263525" y="1484313"/>
            <a:ext cx="11501438" cy="96996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19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Ejercicio</a:t>
            </a:r>
            <a:r>
              <a:rPr lang="en-US" altLang="es-AR" sz="19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Realice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dada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una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invoque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a un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procedimiento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recursive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imprima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elementos</a:t>
            </a:r>
            <a:r>
              <a:rPr lang="en-US" altLang="es-AR" sz="19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de la </a:t>
            </a:r>
            <a:r>
              <a:rPr lang="en-US" altLang="es-AR" sz="19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endParaRPr lang="en-US" altLang="es-AR" sz="19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Supongamos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que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la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lista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se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generó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con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los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19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valores</a:t>
            </a:r>
            <a:r>
              <a:rPr lang="en-US" altLang="es-AR" sz="19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4 10 7</a:t>
            </a:r>
          </a:p>
        </p:txBody>
      </p:sp>
      <p:sp>
        <p:nvSpPr>
          <p:cNvPr id="40966" name="Google Shape;168;p8">
            <a:extLst>
              <a:ext uri="{FF2B5EF4-FFF2-40B4-BE49-F238E27FC236}">
                <a16:creationId xmlns:a16="http://schemas.microsoft.com/office/drawing/2014/main" id="{AD84BBBF-1D69-B666-42C2-9337B5B88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2592388"/>
            <a:ext cx="6326187" cy="3790950"/>
          </a:xfrm>
          <a:prstGeom prst="rect">
            <a:avLst/>
          </a:prstGeom>
          <a:noFill/>
          <a:ln w="38100">
            <a:solidFill>
              <a:srgbClr val="76717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s-AR" altLang="es-AR">
              <a:solidFill>
                <a:srgbClr val="000000"/>
              </a:solidFill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cxnSp>
        <p:nvCxnSpPr>
          <p:cNvPr id="40967" name="Google Shape;169;p8">
            <a:extLst>
              <a:ext uri="{FF2B5EF4-FFF2-40B4-BE49-F238E27FC236}">
                <a16:creationId xmlns:a16="http://schemas.microsoft.com/office/drawing/2014/main" id="{0DA44957-113A-5D7D-0440-85934619E2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78475" y="5410200"/>
            <a:ext cx="6350000" cy="82550"/>
          </a:xfrm>
          <a:prstGeom prst="straightConnector1">
            <a:avLst/>
          </a:prstGeom>
          <a:noFill/>
          <a:ln w="38100">
            <a:solidFill>
              <a:srgbClr val="76717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68" name="Google Shape;170;p8">
            <a:extLst>
              <a:ext uri="{FF2B5EF4-FFF2-40B4-BE49-F238E27FC236}">
                <a16:creationId xmlns:a16="http://schemas.microsoft.com/office/drawing/2014/main" id="{91B8A9E7-6283-901C-64FD-75E46B379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913" y="5573713"/>
            <a:ext cx="2654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Variables del programa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buClr>
                <a:srgbClr val="000000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principal</a:t>
            </a:r>
            <a:endParaRPr lang="es-AR" altLang="es-AR"/>
          </a:p>
        </p:txBody>
      </p:sp>
      <p:grpSp>
        <p:nvGrpSpPr>
          <p:cNvPr id="40969" name="Google Shape;171;p8">
            <a:extLst>
              <a:ext uri="{FF2B5EF4-FFF2-40B4-BE49-F238E27FC236}">
                <a16:creationId xmlns:a16="http://schemas.microsoft.com/office/drawing/2014/main" id="{DFA4F2DB-3F33-3B84-D9DE-19DBFB22A482}"/>
              </a:ext>
            </a:extLst>
          </p:cNvPr>
          <p:cNvGrpSpPr>
            <a:grpSpLocks/>
          </p:cNvGrpSpPr>
          <p:nvPr/>
        </p:nvGrpSpPr>
        <p:grpSpPr bwMode="auto">
          <a:xfrm>
            <a:off x="4810125" y="2740025"/>
            <a:ext cx="701675" cy="1628775"/>
            <a:chOff x="6244683" y="1456496"/>
            <a:chExt cx="701573" cy="1628677"/>
          </a:xfrm>
        </p:grpSpPr>
        <p:cxnSp>
          <p:nvCxnSpPr>
            <p:cNvPr id="40986" name="Google Shape;172;p8">
              <a:extLst>
                <a:ext uri="{FF2B5EF4-FFF2-40B4-BE49-F238E27FC236}">
                  <a16:creationId xmlns:a16="http://schemas.microsoft.com/office/drawing/2014/main" id="{1C698CA1-6B42-AD79-9180-18916ED854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244683" y="3066124"/>
              <a:ext cx="669828" cy="0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7" name="Google Shape;173;p8">
              <a:extLst>
                <a:ext uri="{FF2B5EF4-FFF2-40B4-BE49-F238E27FC236}">
                  <a16:creationId xmlns:a16="http://schemas.microsoft.com/office/drawing/2014/main" id="{5C7F15A8-1CA5-960E-076F-E826D977BB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3730" y="1456496"/>
              <a:ext cx="0" cy="1628677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8" name="Google Shape;174;p8">
              <a:extLst>
                <a:ext uri="{FF2B5EF4-FFF2-40B4-BE49-F238E27FC236}">
                  <a16:creationId xmlns:a16="http://schemas.microsoft.com/office/drawing/2014/main" id="{EF42249B-1A30-56C4-9627-428FDF665E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3730" y="1456496"/>
              <a:ext cx="682526" cy="0"/>
            </a:xfrm>
            <a:prstGeom prst="straightConnector1">
              <a:avLst/>
            </a:prstGeom>
            <a:noFill/>
            <a:ln w="57150">
              <a:solidFill>
                <a:srgbClr val="76717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970" name="Google Shape;175;p8">
            <a:extLst>
              <a:ext uri="{FF2B5EF4-FFF2-40B4-BE49-F238E27FC236}">
                <a16:creationId xmlns:a16="http://schemas.microsoft.com/office/drawing/2014/main" id="{FA515B28-CD35-6DB2-2F13-B01CC802637F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2659063"/>
            <a:ext cx="3822700" cy="430212"/>
            <a:chOff x="5505450" y="2874963"/>
            <a:chExt cx="3822700" cy="430212"/>
          </a:xfrm>
        </p:grpSpPr>
        <p:sp>
          <p:nvSpPr>
            <p:cNvPr id="40984" name="Google Shape;176;p8">
              <a:extLst>
                <a:ext uri="{FF2B5EF4-FFF2-40B4-BE49-F238E27FC236}">
                  <a16:creationId xmlns:a16="http://schemas.microsoft.com/office/drawing/2014/main" id="{A50C1239-BF3B-3D8C-0861-AAFBB697E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5450" y="2921000"/>
              <a:ext cx="265271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600"/>
                <a:buFont typeface="Consolas" panose="020B0609020204030204" pitchFamily="49" charset="0"/>
                <a:buNone/>
              </a:pPr>
              <a:r>
                <a:rPr lang="en-US" altLang="es-AR" sz="16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Procedimiento imprimir</a:t>
              </a:r>
              <a:endParaRPr lang="es-AR" altLang="es-AR"/>
            </a:p>
          </p:txBody>
        </p:sp>
        <p:sp>
          <p:nvSpPr>
            <p:cNvPr id="40985" name="Google Shape;177;p8">
              <a:extLst>
                <a:ext uri="{FF2B5EF4-FFF2-40B4-BE49-F238E27FC236}">
                  <a16:creationId xmlns:a16="http://schemas.microsoft.com/office/drawing/2014/main" id="{23471461-5FFE-C71E-56A4-23C7F8B48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1700" y="2874963"/>
              <a:ext cx="806450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3B3838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3B3838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L= 4</a:t>
              </a:r>
              <a:endParaRPr lang="es-AR" altLang="es-AR"/>
            </a:p>
          </p:txBody>
        </p:sp>
      </p:grpSp>
      <p:sp>
        <p:nvSpPr>
          <p:cNvPr id="30" name="Google Shape;178;p8">
            <a:extLst>
              <a:ext uri="{FF2B5EF4-FFF2-40B4-BE49-F238E27FC236}">
                <a16:creationId xmlns:a16="http://schemas.microsoft.com/office/drawing/2014/main" id="{CB2B8C17-5D1F-0B21-30A2-3D11BEC3F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1938" y="2705100"/>
            <a:ext cx="34131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4</a:t>
            </a:r>
            <a:endParaRPr lang="es-AR" altLang="es-AR">
              <a:solidFill>
                <a:srgbClr val="FF0000"/>
              </a:solidFill>
            </a:endParaRPr>
          </a:p>
        </p:txBody>
      </p:sp>
      <p:grpSp>
        <p:nvGrpSpPr>
          <p:cNvPr id="40972" name="Google Shape;179;p8">
            <a:extLst>
              <a:ext uri="{FF2B5EF4-FFF2-40B4-BE49-F238E27FC236}">
                <a16:creationId xmlns:a16="http://schemas.microsoft.com/office/drawing/2014/main" id="{C3538C4D-7515-3745-B5E3-E67E11CF66A4}"/>
              </a:ext>
            </a:extLst>
          </p:cNvPr>
          <p:cNvGrpSpPr>
            <a:grpSpLocks/>
          </p:cNvGrpSpPr>
          <p:nvPr/>
        </p:nvGrpSpPr>
        <p:grpSpPr bwMode="auto">
          <a:xfrm>
            <a:off x="5592763" y="3309938"/>
            <a:ext cx="3986212" cy="430212"/>
            <a:chOff x="5497513" y="3525838"/>
            <a:chExt cx="3986212" cy="430212"/>
          </a:xfrm>
        </p:grpSpPr>
        <p:sp>
          <p:nvSpPr>
            <p:cNvPr id="40982" name="Google Shape;180;p8">
              <a:extLst>
                <a:ext uri="{FF2B5EF4-FFF2-40B4-BE49-F238E27FC236}">
                  <a16:creationId xmlns:a16="http://schemas.microsoft.com/office/drawing/2014/main" id="{C4129651-3BE9-C2F2-B0FE-02FF90040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7513" y="3571875"/>
              <a:ext cx="26543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600"/>
                <a:buFont typeface="Consolas" panose="020B0609020204030204" pitchFamily="49" charset="0"/>
                <a:buNone/>
              </a:pPr>
              <a:r>
                <a:rPr lang="en-US" altLang="es-AR" sz="16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Procedimiento imprimir</a:t>
              </a:r>
              <a:endParaRPr lang="es-AR" altLang="es-AR"/>
            </a:p>
          </p:txBody>
        </p:sp>
        <p:sp>
          <p:nvSpPr>
            <p:cNvPr id="40983" name="Google Shape;181;p8">
              <a:extLst>
                <a:ext uri="{FF2B5EF4-FFF2-40B4-BE49-F238E27FC236}">
                  <a16:creationId xmlns:a16="http://schemas.microsoft.com/office/drawing/2014/main" id="{57024ED1-9E60-9CF9-D3B9-3C9A11EBA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1700" y="3525838"/>
              <a:ext cx="962025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3B3838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3B3838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L= 10</a:t>
              </a:r>
              <a:endParaRPr lang="es-AR" altLang="es-AR"/>
            </a:p>
          </p:txBody>
        </p:sp>
      </p:grpSp>
      <p:sp>
        <p:nvSpPr>
          <p:cNvPr id="34" name="Google Shape;182;p8">
            <a:extLst>
              <a:ext uri="{FF2B5EF4-FFF2-40B4-BE49-F238E27FC236}">
                <a16:creationId xmlns:a16="http://schemas.microsoft.com/office/drawing/2014/main" id="{82AB4B68-3818-D83F-3A4F-F7D0B4EB6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3363" y="3341688"/>
            <a:ext cx="49688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10</a:t>
            </a:r>
            <a:endParaRPr lang="es-AR" altLang="es-AR">
              <a:solidFill>
                <a:srgbClr val="FF0000"/>
              </a:solidFill>
            </a:endParaRPr>
          </a:p>
        </p:txBody>
      </p:sp>
      <p:grpSp>
        <p:nvGrpSpPr>
          <p:cNvPr id="40974" name="Google Shape;183;p8">
            <a:extLst>
              <a:ext uri="{FF2B5EF4-FFF2-40B4-BE49-F238E27FC236}">
                <a16:creationId xmlns:a16="http://schemas.microsoft.com/office/drawing/2014/main" id="{408484CC-D769-311D-C394-6A043B1D9836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3922713"/>
            <a:ext cx="3822700" cy="457200"/>
            <a:chOff x="5505450" y="4138613"/>
            <a:chExt cx="3822700" cy="457200"/>
          </a:xfrm>
        </p:grpSpPr>
        <p:sp>
          <p:nvSpPr>
            <p:cNvPr id="40980" name="Google Shape;184;p8">
              <a:extLst>
                <a:ext uri="{FF2B5EF4-FFF2-40B4-BE49-F238E27FC236}">
                  <a16:creationId xmlns:a16="http://schemas.microsoft.com/office/drawing/2014/main" id="{95403EBB-1CD1-072F-DEDA-C492844FB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5450" y="4138613"/>
              <a:ext cx="2652713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600"/>
                <a:buFont typeface="Consolas" panose="020B0609020204030204" pitchFamily="49" charset="0"/>
                <a:buNone/>
              </a:pPr>
              <a:r>
                <a:rPr lang="en-US" altLang="es-AR" sz="16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Procedimiento imprimir</a:t>
              </a:r>
              <a:endParaRPr lang="es-AR" altLang="es-AR"/>
            </a:p>
          </p:txBody>
        </p:sp>
        <p:sp>
          <p:nvSpPr>
            <p:cNvPr id="40981" name="Google Shape;185;p8">
              <a:extLst>
                <a:ext uri="{FF2B5EF4-FFF2-40B4-BE49-F238E27FC236}">
                  <a16:creationId xmlns:a16="http://schemas.microsoft.com/office/drawing/2014/main" id="{24E3F676-5C47-3BD5-58C4-BE8F97132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1700" y="4164013"/>
              <a:ext cx="80645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3B3838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3B3838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L= 7</a:t>
              </a:r>
              <a:endParaRPr lang="es-AR" altLang="es-AR"/>
            </a:p>
          </p:txBody>
        </p:sp>
      </p:grpSp>
      <p:sp>
        <p:nvSpPr>
          <p:cNvPr id="38" name="Google Shape;186;p8">
            <a:extLst>
              <a:ext uri="{FF2B5EF4-FFF2-40B4-BE49-F238E27FC236}">
                <a16:creationId xmlns:a16="http://schemas.microsoft.com/office/drawing/2014/main" id="{EE7C0967-0CFD-39AD-99AD-3AE78AFF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2738" y="3948113"/>
            <a:ext cx="3413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7</a:t>
            </a:r>
            <a:endParaRPr lang="es-AR" altLang="es-AR">
              <a:solidFill>
                <a:srgbClr val="FF0000"/>
              </a:solidFill>
            </a:endParaRPr>
          </a:p>
        </p:txBody>
      </p:sp>
      <p:grpSp>
        <p:nvGrpSpPr>
          <p:cNvPr id="40976" name="Google Shape;187;p8">
            <a:extLst>
              <a:ext uri="{FF2B5EF4-FFF2-40B4-BE49-F238E27FC236}">
                <a16:creationId xmlns:a16="http://schemas.microsoft.com/office/drawing/2014/main" id="{C09E525C-8FCF-D4A1-4173-409C3B8AAC97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4581525"/>
            <a:ext cx="4133850" cy="431800"/>
            <a:chOff x="5505450" y="4799013"/>
            <a:chExt cx="4133850" cy="431800"/>
          </a:xfrm>
        </p:grpSpPr>
        <p:sp>
          <p:nvSpPr>
            <p:cNvPr id="40978" name="Google Shape;188;p8">
              <a:extLst>
                <a:ext uri="{FF2B5EF4-FFF2-40B4-BE49-F238E27FC236}">
                  <a16:creationId xmlns:a16="http://schemas.microsoft.com/office/drawing/2014/main" id="{590A29E6-6152-CFB1-561F-1FA93C5B7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5450" y="4878388"/>
              <a:ext cx="2652713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600"/>
                <a:buFont typeface="Consolas" panose="020B0609020204030204" pitchFamily="49" charset="0"/>
                <a:buNone/>
              </a:pPr>
              <a:r>
                <a:rPr lang="en-US" altLang="es-AR" sz="16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Procedimiento imprimir</a:t>
              </a:r>
              <a:endParaRPr lang="es-AR" altLang="es-AR"/>
            </a:p>
          </p:txBody>
        </p:sp>
        <p:sp>
          <p:nvSpPr>
            <p:cNvPr id="40979" name="Google Shape;189;p8">
              <a:extLst>
                <a:ext uri="{FF2B5EF4-FFF2-40B4-BE49-F238E27FC236}">
                  <a16:creationId xmlns:a16="http://schemas.microsoft.com/office/drawing/2014/main" id="{63E1FF16-9479-B3FB-D68A-85C150DE1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1700" y="4799013"/>
              <a:ext cx="11176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3B3838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3B3838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L= nil</a:t>
              </a:r>
              <a:endParaRPr lang="es-AR" altLang="es-AR"/>
            </a:p>
          </p:txBody>
        </p:sp>
      </p:grpSp>
      <p:sp>
        <p:nvSpPr>
          <p:cNvPr id="42" name="Google Shape;190;p8">
            <a:extLst>
              <a:ext uri="{FF2B5EF4-FFF2-40B4-BE49-F238E27FC236}">
                <a16:creationId xmlns:a16="http://schemas.microsoft.com/office/drawing/2014/main" id="{88D42418-4CB1-7591-E8A4-88FAFB95D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325" y="4457700"/>
            <a:ext cx="13843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600"/>
              <a:buFont typeface="Consolas" panose="020B0609020204030204" pitchFamily="49" charset="0"/>
              <a:buNone/>
            </a:pPr>
            <a:r>
              <a:rPr lang="en-US" altLang="es-AR" sz="16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 este caso no se hace nada</a:t>
            </a:r>
            <a:endParaRPr lang="es-AR" altLang="es-AR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46" dur="20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4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4" dur="20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2" dur="20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0" dur="20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4" grpId="0"/>
      <p:bldP spid="34" grpId="1"/>
      <p:bldP spid="38" grpId="0"/>
      <p:bldP spid="38" grpId="1"/>
      <p:bldP spid="42" grpId="0"/>
      <p:bldP spid="4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27E2C136-B39B-71F6-29B2-A5639C7EF7D7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246437-FED3-DA58-0210-F459449FC5D9}"/>
              </a:ext>
            </a:extLst>
          </p:cNvPr>
          <p:cNvSpPr txBox="1"/>
          <p:nvPr/>
        </p:nvSpPr>
        <p:spPr>
          <a:xfrm>
            <a:off x="407988" y="328613"/>
            <a:ext cx="1036002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 - Ejemplo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6 CuadroTexto">
            <a:extLst>
              <a:ext uri="{FF2B5EF4-FFF2-40B4-BE49-F238E27FC236}">
                <a16:creationId xmlns:a16="http://schemas.microsoft.com/office/drawing/2014/main" id="{9EE1FB76-54A4-7F30-DCAE-D2E38D2E2949}"/>
              </a:ext>
            </a:extLst>
          </p:cNvPr>
          <p:cNvSpPr txBox="1"/>
          <p:nvPr/>
        </p:nvSpPr>
        <p:spPr bwMode="auto">
          <a:xfrm>
            <a:off x="263525" y="1484313"/>
            <a:ext cx="11501438" cy="1016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s-ES" altLang="es-AR" sz="20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 que debe realizar un módulo recursivo que dado un número entero y un valor n (entero positivo) se calcule </a:t>
            </a:r>
            <a:r>
              <a:rPr lang="es-ES" altLang="es-AR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x</a:t>
            </a:r>
            <a:r>
              <a:rPr lang="es-ES" altLang="es-AR" sz="2000" b="1" baseline="30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</a:t>
            </a:r>
            <a:r>
              <a:rPr lang="es-ES" altLang="es-AR" sz="20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.</a:t>
            </a:r>
          </a:p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s-ES" altLang="es-AR" sz="20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Supongamos x= 3 y n = 2.</a:t>
            </a:r>
            <a:endParaRPr lang="es-ES" altLang="es-AR" sz="2000" b="1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</p:txBody>
      </p:sp>
      <p:sp>
        <p:nvSpPr>
          <p:cNvPr id="3" name="6 CuadroTexto">
            <a:extLst>
              <a:ext uri="{FF2B5EF4-FFF2-40B4-BE49-F238E27FC236}">
                <a16:creationId xmlns:a16="http://schemas.microsoft.com/office/drawing/2014/main" id="{BAAC0334-EE0F-6D57-95D8-BA6970020D7A}"/>
              </a:ext>
            </a:extLst>
          </p:cNvPr>
          <p:cNvSpPr txBox="1"/>
          <p:nvPr/>
        </p:nvSpPr>
        <p:spPr bwMode="auto">
          <a:xfrm>
            <a:off x="6608763" y="2917825"/>
            <a:ext cx="4887912" cy="34766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tres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Var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x,n,resultado:integer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endParaRPr lang="en-US" altLang="es-AR" sz="22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read (x);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read (n);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resultado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potencia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x,n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write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resultado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End.</a:t>
            </a:r>
          </a:p>
        </p:txBody>
      </p:sp>
      <p:sp>
        <p:nvSpPr>
          <p:cNvPr id="7" name="6 CuadroTexto">
            <a:extLst>
              <a:ext uri="{FF2B5EF4-FFF2-40B4-BE49-F238E27FC236}">
                <a16:creationId xmlns:a16="http://schemas.microsoft.com/office/drawing/2014/main" id="{463E43C7-D8FE-CADA-7F6A-5FA8B42DF30E}"/>
              </a:ext>
            </a:extLst>
          </p:cNvPr>
          <p:cNvSpPr txBox="1"/>
          <p:nvPr/>
        </p:nvSpPr>
        <p:spPr bwMode="auto">
          <a:xfrm>
            <a:off x="560388" y="2933700"/>
            <a:ext cx="5022850" cy="34782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Programa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tres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Var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x,n,resultado:integer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endParaRPr lang="en-US" altLang="es-AR" sz="22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read (x);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read (n);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potencia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x,n,resultado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write (</a:t>
            </a:r>
            <a:r>
              <a:rPr lang="en-US" altLang="es-AR" sz="22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resultado</a:t>
            </a: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2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End.</a:t>
            </a:r>
          </a:p>
        </p:txBody>
      </p:sp>
    </p:spTree>
  </p:cSld>
  <p:clrMapOvr>
    <a:masterClrMapping/>
  </p:clrMapOvr>
  <p:transition spd="slow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CB0744ED-3E25-7771-71EF-5C4EC2C2551D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77C7FD-8A2C-8D75-05A3-D54414B34E43}"/>
              </a:ext>
            </a:extLst>
          </p:cNvPr>
          <p:cNvSpPr txBox="1"/>
          <p:nvPr/>
        </p:nvSpPr>
        <p:spPr>
          <a:xfrm>
            <a:off x="407988" y="328613"/>
            <a:ext cx="1036002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Recursión- FUNCIONAMIENTO - Ejemplo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6 CuadroTexto">
            <a:extLst>
              <a:ext uri="{FF2B5EF4-FFF2-40B4-BE49-F238E27FC236}">
                <a16:creationId xmlns:a16="http://schemas.microsoft.com/office/drawing/2014/main" id="{43263F1E-98B1-542F-6104-4191B99C9F5A}"/>
              </a:ext>
            </a:extLst>
          </p:cNvPr>
          <p:cNvSpPr txBox="1"/>
          <p:nvPr/>
        </p:nvSpPr>
        <p:spPr bwMode="auto">
          <a:xfrm>
            <a:off x="263525" y="1484313"/>
            <a:ext cx="11501438" cy="1016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s-ES" altLang="es-AR" sz="20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 que debe realizar un módulo que dado un número entero y un valor n (entero positivo) se calcule </a:t>
            </a:r>
            <a:r>
              <a:rPr lang="es-ES" altLang="es-AR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x</a:t>
            </a:r>
            <a:r>
              <a:rPr lang="es-ES" altLang="es-AR" sz="2000" b="1" baseline="30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</a:t>
            </a:r>
            <a:r>
              <a:rPr lang="es-ES" altLang="es-AR" sz="2000" b="1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.</a:t>
            </a:r>
          </a:p>
          <a:p>
            <a:pPr algn="just"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s-ES" altLang="es-AR" sz="20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Supongamos x= 3 y n= 2.</a:t>
            </a:r>
            <a:endParaRPr lang="es-ES" altLang="es-AR" sz="2000" b="1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</p:txBody>
      </p:sp>
      <p:sp>
        <p:nvSpPr>
          <p:cNvPr id="3" name="6 CuadroTexto">
            <a:extLst>
              <a:ext uri="{FF2B5EF4-FFF2-40B4-BE49-F238E27FC236}">
                <a16:creationId xmlns:a16="http://schemas.microsoft.com/office/drawing/2014/main" id="{4F3F3825-E24E-A9E6-B640-03F7B2B918AD}"/>
              </a:ext>
            </a:extLst>
          </p:cNvPr>
          <p:cNvSpPr txBox="1"/>
          <p:nvPr/>
        </p:nvSpPr>
        <p:spPr bwMode="auto">
          <a:xfrm>
            <a:off x="119063" y="2708275"/>
            <a:ext cx="6408737" cy="31702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Function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potencia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(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num,n:integer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): integer;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Var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pot:integer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endParaRPr lang="en-US" altLang="es-AR" sz="20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Consolas" panose="020B0609020204030204" pitchFamily="49" charset="0"/>
            </a:endParaRP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Begin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if (n = 0) then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potencia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1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else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potencia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:= num * </a:t>
            </a:r>
            <a:r>
              <a:rPr lang="en-US" altLang="es-AR" sz="20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potencia</a:t>
            </a: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(num, n-1)); 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end;</a:t>
            </a:r>
          </a:p>
          <a:p>
            <a:pPr eaLnBrk="1" hangingPunct="1">
              <a:buClr>
                <a:srgbClr val="000000"/>
              </a:buClr>
              <a:buSzPts val="3000"/>
              <a:buFont typeface="Consolas" panose="020B0609020204030204" pitchFamily="49" charset="0"/>
              <a:buNone/>
              <a:defRPr/>
            </a:pPr>
            <a:r>
              <a:rPr lang="en-US" altLang="es-AR" sz="20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End;</a:t>
            </a:r>
          </a:p>
        </p:txBody>
      </p:sp>
      <p:sp>
        <p:nvSpPr>
          <p:cNvPr id="47110" name="Google Shape;314;p14">
            <a:extLst>
              <a:ext uri="{FF2B5EF4-FFF2-40B4-BE49-F238E27FC236}">
                <a16:creationId xmlns:a16="http://schemas.microsoft.com/office/drawing/2014/main" id="{DDE75B34-442B-6B5C-DD9B-913D468FC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8325" y="2133600"/>
            <a:ext cx="3721100" cy="431800"/>
          </a:xfrm>
          <a:prstGeom prst="rect">
            <a:avLst/>
          </a:prstGeom>
          <a:noFill/>
          <a:ln w="9525">
            <a:solidFill>
              <a:srgbClr val="333F5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rgbClr val="595959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Supongamos num = 3 n=2</a:t>
            </a:r>
            <a:endParaRPr lang="es-AR" altLang="es-AR"/>
          </a:p>
        </p:txBody>
      </p:sp>
      <p:sp>
        <p:nvSpPr>
          <p:cNvPr id="7" name="Google Shape;316;p14">
            <a:extLst>
              <a:ext uri="{FF2B5EF4-FFF2-40B4-BE49-F238E27FC236}">
                <a16:creationId xmlns:a16="http://schemas.microsoft.com/office/drawing/2014/main" id="{A911C8F9-06B9-F291-B7F8-AC45FA513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3068638"/>
            <a:ext cx="6192838" cy="431800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595959"/>
              </a:buClr>
              <a:buSzPts val="2200"/>
              <a:buFont typeface="Consolas" panose="020B0609020204030204" pitchFamily="49" charset="0"/>
              <a:buNone/>
              <a:defRPr/>
            </a:pPr>
            <a:r>
              <a:rPr lang="en-US" altLang="es-AR" sz="2200" b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potencia num= 3,n=2, </a:t>
            </a:r>
            <a:r>
              <a:rPr lang="en-US" altLang="es-AR" sz="2200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3 * potencia (3,1)</a:t>
            </a:r>
            <a:endParaRPr lang="es-AR" altLang="es-AR"/>
          </a:p>
        </p:txBody>
      </p:sp>
      <p:sp>
        <p:nvSpPr>
          <p:cNvPr id="8" name="Google Shape;317;p14">
            <a:extLst>
              <a:ext uri="{FF2B5EF4-FFF2-40B4-BE49-F238E27FC236}">
                <a16:creationId xmlns:a16="http://schemas.microsoft.com/office/drawing/2014/main" id="{8FE2014E-7687-F012-C79C-9BA58665B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4573588"/>
            <a:ext cx="6192838" cy="430212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595959"/>
              </a:buClr>
              <a:buSzPts val="2200"/>
              <a:buFont typeface="Consolas" panose="020B0609020204030204" pitchFamily="49" charset="0"/>
              <a:buNone/>
              <a:defRPr/>
            </a:pPr>
            <a:r>
              <a:rPr lang="en-US" altLang="es-AR" sz="2200" b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potencia num= 3,n=1, </a:t>
            </a:r>
            <a:r>
              <a:rPr lang="en-US" altLang="es-AR" sz="2200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3 * potencia (3,0)</a:t>
            </a:r>
            <a:endParaRPr lang="es-AR" altLang="es-AR"/>
          </a:p>
        </p:txBody>
      </p:sp>
      <p:sp>
        <p:nvSpPr>
          <p:cNvPr id="9" name="Google Shape;318;p14">
            <a:extLst>
              <a:ext uri="{FF2B5EF4-FFF2-40B4-BE49-F238E27FC236}">
                <a16:creationId xmlns:a16="http://schemas.microsoft.com/office/drawing/2014/main" id="{254DF7F0-6A64-806C-F44F-741AC3B23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6311900"/>
            <a:ext cx="6192838" cy="430213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595959"/>
              </a:buClr>
              <a:buSzPts val="2200"/>
              <a:buFont typeface="Consolas" panose="020B0609020204030204" pitchFamily="49" charset="0"/>
              <a:buNone/>
              <a:defRPr/>
            </a:pPr>
            <a:r>
              <a:rPr lang="en-US" altLang="es-AR" sz="2200" b="1">
                <a:solidFill>
                  <a:srgbClr val="595959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potencia num= 3,n=0, </a:t>
            </a:r>
            <a:r>
              <a:rPr lang="en-US" altLang="es-AR" sz="2200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potencia = 1</a:t>
            </a:r>
            <a:endParaRPr lang="es-AR" altLang="es-AR"/>
          </a:p>
        </p:txBody>
      </p:sp>
      <p:grpSp>
        <p:nvGrpSpPr>
          <p:cNvPr id="47115" name="Google Shape;319;p14">
            <a:extLst>
              <a:ext uri="{FF2B5EF4-FFF2-40B4-BE49-F238E27FC236}">
                <a16:creationId xmlns:a16="http://schemas.microsoft.com/office/drawing/2014/main" id="{DBC1A495-A75A-4727-8CAC-973C33338AA1}"/>
              </a:ext>
            </a:extLst>
          </p:cNvPr>
          <p:cNvGrpSpPr>
            <a:grpSpLocks/>
          </p:cNvGrpSpPr>
          <p:nvPr/>
        </p:nvGrpSpPr>
        <p:grpSpPr bwMode="auto">
          <a:xfrm>
            <a:off x="10344150" y="5229225"/>
            <a:ext cx="1439863" cy="584200"/>
            <a:chOff x="10344150" y="4508500"/>
            <a:chExt cx="1439863" cy="584200"/>
          </a:xfrm>
        </p:grpSpPr>
        <p:sp>
          <p:nvSpPr>
            <p:cNvPr id="47128" name="Google Shape;320;p14">
              <a:extLst>
                <a:ext uri="{FF2B5EF4-FFF2-40B4-BE49-F238E27FC236}">
                  <a16:creationId xmlns:a16="http://schemas.microsoft.com/office/drawing/2014/main" id="{389AE5D3-07ED-1A84-E24B-3AC37ABA5DC7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986294" y="3866356"/>
              <a:ext cx="155575" cy="1439863"/>
            </a:xfrm>
            <a:prstGeom prst="leftBrace">
              <a:avLst>
                <a:gd name="adj1" fmla="val 214"/>
                <a:gd name="adj2" fmla="val 50000"/>
              </a:avLst>
            </a:prstGeom>
            <a:noFill/>
            <a:ln w="38100">
              <a:solidFill>
                <a:srgbClr val="4472C4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7129" name="Google Shape;321;p14">
              <a:extLst>
                <a:ext uri="{FF2B5EF4-FFF2-40B4-BE49-F238E27FC236}">
                  <a16:creationId xmlns:a16="http://schemas.microsoft.com/office/drawing/2014/main" id="{0C740BD8-C163-DAA4-5DD2-B2AD938CE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8925" y="4660900"/>
              <a:ext cx="12319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buClr>
                  <a:srgbClr val="4472C4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4472C4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</a:t>
              </a:r>
              <a:endParaRPr lang="es-AR" altLang="es-AR"/>
            </a:p>
          </p:txBody>
        </p:sp>
      </p:grpSp>
      <p:grpSp>
        <p:nvGrpSpPr>
          <p:cNvPr id="47116" name="Google Shape;322;p14">
            <a:extLst>
              <a:ext uri="{FF2B5EF4-FFF2-40B4-BE49-F238E27FC236}">
                <a16:creationId xmlns:a16="http://schemas.microsoft.com/office/drawing/2014/main" id="{84E20E64-435D-5997-8349-F5C02687F15A}"/>
              </a:ext>
            </a:extLst>
          </p:cNvPr>
          <p:cNvGrpSpPr>
            <a:grpSpLocks/>
          </p:cNvGrpSpPr>
          <p:nvPr/>
        </p:nvGrpSpPr>
        <p:grpSpPr bwMode="auto">
          <a:xfrm>
            <a:off x="9348788" y="5694363"/>
            <a:ext cx="2435225" cy="614362"/>
            <a:chOff x="9348788" y="5116513"/>
            <a:chExt cx="2435225" cy="614362"/>
          </a:xfrm>
        </p:grpSpPr>
        <p:sp>
          <p:nvSpPr>
            <p:cNvPr id="47126" name="Google Shape;323;p14">
              <a:extLst>
                <a:ext uri="{FF2B5EF4-FFF2-40B4-BE49-F238E27FC236}">
                  <a16:creationId xmlns:a16="http://schemas.microsoft.com/office/drawing/2014/main" id="{85A7AC39-1962-11E5-1E05-7AA82F328ECF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491788" y="3973513"/>
              <a:ext cx="149225" cy="2435225"/>
            </a:xfrm>
            <a:prstGeom prst="leftBrace">
              <a:avLst>
                <a:gd name="adj1" fmla="val 76"/>
                <a:gd name="adj2" fmla="val 50000"/>
              </a:avLst>
            </a:prstGeom>
            <a:noFill/>
            <a:ln w="38100">
              <a:solidFill>
                <a:srgbClr val="4472C4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7127" name="Google Shape;324;p14">
              <a:extLst>
                <a:ext uri="{FF2B5EF4-FFF2-40B4-BE49-F238E27FC236}">
                  <a16:creationId xmlns:a16="http://schemas.microsoft.com/office/drawing/2014/main" id="{CB579FDE-573D-A680-BD01-9B93F27BF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55213" y="5300663"/>
              <a:ext cx="1231900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buClr>
                  <a:srgbClr val="4472C4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4472C4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</a:t>
              </a:r>
              <a:endParaRPr lang="es-AR" altLang="es-AR"/>
            </a:p>
          </p:txBody>
        </p:sp>
      </p:grpSp>
      <p:grpSp>
        <p:nvGrpSpPr>
          <p:cNvPr id="47117" name="Google Shape;325;p14">
            <a:extLst>
              <a:ext uri="{FF2B5EF4-FFF2-40B4-BE49-F238E27FC236}">
                <a16:creationId xmlns:a16="http://schemas.microsoft.com/office/drawing/2014/main" id="{170657D5-3332-8C6C-5B2B-919ADB9304E1}"/>
              </a:ext>
            </a:extLst>
          </p:cNvPr>
          <p:cNvGrpSpPr>
            <a:grpSpLocks/>
          </p:cNvGrpSpPr>
          <p:nvPr/>
        </p:nvGrpSpPr>
        <p:grpSpPr bwMode="auto">
          <a:xfrm>
            <a:off x="10344150" y="3573463"/>
            <a:ext cx="1439863" cy="584200"/>
            <a:chOff x="10344150" y="2684463"/>
            <a:chExt cx="1439863" cy="584200"/>
          </a:xfrm>
        </p:grpSpPr>
        <p:sp>
          <p:nvSpPr>
            <p:cNvPr id="47124" name="Google Shape;326;p14">
              <a:extLst>
                <a:ext uri="{FF2B5EF4-FFF2-40B4-BE49-F238E27FC236}">
                  <a16:creationId xmlns:a16="http://schemas.microsoft.com/office/drawing/2014/main" id="{F9E0BDF1-5B4E-0D1D-B74F-A0C66E7DAB5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986294" y="2042319"/>
              <a:ext cx="155575" cy="1439863"/>
            </a:xfrm>
            <a:prstGeom prst="leftBrace">
              <a:avLst>
                <a:gd name="adj1" fmla="val 214"/>
                <a:gd name="adj2" fmla="val 50000"/>
              </a:avLst>
            </a:prstGeom>
            <a:noFill/>
            <a:ln w="38100">
              <a:solidFill>
                <a:srgbClr val="4472C4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7125" name="Google Shape;327;p14">
              <a:extLst>
                <a:ext uri="{FF2B5EF4-FFF2-40B4-BE49-F238E27FC236}">
                  <a16:creationId xmlns:a16="http://schemas.microsoft.com/office/drawing/2014/main" id="{F198B12F-2FBC-F663-32AF-44BD7544E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8925" y="2838450"/>
              <a:ext cx="12319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buClr>
                  <a:srgbClr val="4472C4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4472C4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</a:t>
              </a:r>
              <a:endParaRPr lang="es-AR" altLang="es-AR"/>
            </a:p>
          </p:txBody>
        </p:sp>
      </p:grpSp>
      <p:grpSp>
        <p:nvGrpSpPr>
          <p:cNvPr id="47118" name="Google Shape;328;p14">
            <a:extLst>
              <a:ext uri="{FF2B5EF4-FFF2-40B4-BE49-F238E27FC236}">
                <a16:creationId xmlns:a16="http://schemas.microsoft.com/office/drawing/2014/main" id="{1F9EB1D7-D033-68C4-D9FA-EA8C06D4D5FC}"/>
              </a:ext>
            </a:extLst>
          </p:cNvPr>
          <p:cNvGrpSpPr>
            <a:grpSpLocks/>
          </p:cNvGrpSpPr>
          <p:nvPr/>
        </p:nvGrpSpPr>
        <p:grpSpPr bwMode="auto">
          <a:xfrm>
            <a:off x="9264650" y="4078288"/>
            <a:ext cx="2519363" cy="527050"/>
            <a:chOff x="9264650" y="3189288"/>
            <a:chExt cx="2519363" cy="527050"/>
          </a:xfrm>
        </p:grpSpPr>
        <p:sp>
          <p:nvSpPr>
            <p:cNvPr id="47122" name="Google Shape;329;p14">
              <a:extLst>
                <a:ext uri="{FF2B5EF4-FFF2-40B4-BE49-F238E27FC236}">
                  <a16:creationId xmlns:a16="http://schemas.microsoft.com/office/drawing/2014/main" id="{F54FE21D-1BB2-A6A2-F435-D36B7EDF74B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476706" y="1977231"/>
              <a:ext cx="95250" cy="2519363"/>
            </a:xfrm>
            <a:prstGeom prst="leftBrace">
              <a:avLst>
                <a:gd name="adj1" fmla="val 122"/>
                <a:gd name="adj2" fmla="val 50000"/>
              </a:avLst>
            </a:prstGeom>
            <a:noFill/>
            <a:ln w="38100">
              <a:solidFill>
                <a:srgbClr val="4472C4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7123" name="Google Shape;330;p14">
              <a:extLst>
                <a:ext uri="{FF2B5EF4-FFF2-40B4-BE49-F238E27FC236}">
                  <a16:creationId xmlns:a16="http://schemas.microsoft.com/office/drawing/2014/main" id="{3406E4CE-4C88-2153-9A90-06F5F4B43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2663" y="3286125"/>
              <a:ext cx="123031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buClr>
                  <a:srgbClr val="4472C4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4472C4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9</a:t>
              </a:r>
              <a:endParaRPr lang="es-AR" altLang="es-AR"/>
            </a:p>
          </p:txBody>
        </p:sp>
      </p:grpSp>
      <p:sp>
        <p:nvSpPr>
          <p:cNvPr id="23" name="Google Shape;331;p14">
            <a:extLst>
              <a:ext uri="{FF2B5EF4-FFF2-40B4-BE49-F238E27FC236}">
                <a16:creationId xmlns:a16="http://schemas.microsoft.com/office/drawing/2014/main" id="{0C4A4E05-8277-883B-5E4D-D6FA5905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9263" y="2198688"/>
            <a:ext cx="1231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rgbClr val="4472C4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400" b="1">
                <a:solidFill>
                  <a:srgbClr val="4472C4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9</a:t>
            </a:r>
            <a:endParaRPr lang="es-AR" altLang="es-AR" sz="2400"/>
          </a:p>
        </p:txBody>
      </p:sp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E919BB7C-F8EF-9B84-FCE1-ADB1C9E96FF7}"/>
              </a:ext>
            </a:extLst>
          </p:cNvPr>
          <p:cNvSpPr/>
          <p:nvPr/>
        </p:nvSpPr>
        <p:spPr>
          <a:xfrm>
            <a:off x="8650288" y="2598738"/>
            <a:ext cx="415925" cy="430212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A03DCB82-B9AE-5751-D117-D0A34A10255C}"/>
              </a:ext>
            </a:extLst>
          </p:cNvPr>
          <p:cNvSpPr/>
          <p:nvPr/>
        </p:nvSpPr>
        <p:spPr>
          <a:xfrm>
            <a:off x="8650288" y="4132263"/>
            <a:ext cx="415925" cy="430212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5B1C0C16-C4A4-C372-8896-2A1B12B1AA98}"/>
              </a:ext>
            </a:extLst>
          </p:cNvPr>
          <p:cNvSpPr/>
          <p:nvPr/>
        </p:nvSpPr>
        <p:spPr>
          <a:xfrm>
            <a:off x="8650288" y="5862638"/>
            <a:ext cx="415925" cy="430212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7" dur="20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2" dur="20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7" dur="20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2" dur="20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23" grpId="0"/>
      <p:bldP spid="2" grpId="0" animBg="1"/>
      <p:bldP spid="2" grpId="1" animBg="1"/>
      <p:bldP spid="11" grpId="0" animBg="1"/>
      <p:bldP spid="11" grpId="1" animBg="1"/>
      <p:bldP spid="13" grpId="0" animBg="1"/>
      <p:bldP spid="1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A2E52E4C-B2E8-6157-900C-B5B68D1EECED}"/>
              </a:ext>
            </a:extLst>
          </p:cNvPr>
          <p:cNvSpPr/>
          <p:nvPr/>
        </p:nvSpPr>
        <p:spPr>
          <a:xfrm>
            <a:off x="263525" y="115888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64BC569-0F6C-8C84-3E63-9C60DC7D46F7}"/>
              </a:ext>
            </a:extLst>
          </p:cNvPr>
          <p:cNvSpPr txBox="1"/>
          <p:nvPr/>
        </p:nvSpPr>
        <p:spPr>
          <a:xfrm>
            <a:off x="263525" y="184150"/>
            <a:ext cx="699742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Recursión CONCLUSIONES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6 CuadroTexto">
            <a:extLst>
              <a:ext uri="{FF2B5EF4-FFF2-40B4-BE49-F238E27FC236}">
                <a16:creationId xmlns:a16="http://schemas.microsoft.com/office/drawing/2014/main" id="{1CC0DEBF-7DE7-E304-1C3E-C997AE021B18}"/>
              </a:ext>
            </a:extLst>
          </p:cNvPr>
          <p:cNvSpPr txBox="1"/>
          <p:nvPr/>
        </p:nvSpPr>
        <p:spPr bwMode="auto">
          <a:xfrm>
            <a:off x="1270000" y="1268413"/>
            <a:ext cx="10612438" cy="1016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Hay problema de naturaleza recursiva, NO todo se puede resolver de manera recursiva.</a:t>
            </a:r>
            <a:endParaRPr lang="es-ES_tradnl" sz="3000" dirty="0">
              <a:latin typeface="Agency FB" panose="020B0503020202020204" pitchFamily="34" charset="0"/>
            </a:endParaRPr>
          </a:p>
        </p:txBody>
      </p:sp>
      <p:sp>
        <p:nvSpPr>
          <p:cNvPr id="15" name="6 CuadroTexto">
            <a:extLst>
              <a:ext uri="{FF2B5EF4-FFF2-40B4-BE49-F238E27FC236}">
                <a16:creationId xmlns:a16="http://schemas.microsoft.com/office/drawing/2014/main" id="{E409B53B-C39E-F56E-5273-979592D657DA}"/>
              </a:ext>
            </a:extLst>
          </p:cNvPr>
          <p:cNvSpPr txBox="1"/>
          <p:nvPr/>
        </p:nvSpPr>
        <p:spPr bwMode="auto">
          <a:xfrm>
            <a:off x="1252538" y="2368550"/>
            <a:ext cx="10629900" cy="42481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Requiere más memoria que una solución iterativa. 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Siempre hay al menos un caso base, a veces se implementa código y otras es sólo para cortar la recursión.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Hay que “achicar ” el problema en cada llamado.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No es lo mismo que los parámetros estén pasados por valor o por referencia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7E8147E2-B715-5F8E-36FC-64A2F03D8210}"/>
              </a:ext>
            </a:extLst>
          </p:cNvPr>
          <p:cNvSpPr/>
          <p:nvPr/>
        </p:nvSpPr>
        <p:spPr bwMode="auto">
          <a:xfrm>
            <a:off x="479425" y="1354138"/>
            <a:ext cx="503238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43BD3AB-E4D5-5D7E-95FE-FA33C467A4BC}"/>
              </a:ext>
            </a:extLst>
          </p:cNvPr>
          <p:cNvGrpSpPr>
            <a:grpSpLocks/>
          </p:cNvGrpSpPr>
          <p:nvPr/>
        </p:nvGrpSpPr>
        <p:grpSpPr bwMode="auto">
          <a:xfrm>
            <a:off x="263525" y="6086475"/>
            <a:ext cx="3311525" cy="727075"/>
            <a:chOff x="290512" y="1484784"/>
            <a:chExt cx="4869384" cy="852487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6FDCB9F3-E061-51D0-DCC0-EC0CFD16FBBF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4" name="6 CuadroTexto">
              <a:extLst>
                <a:ext uri="{FF2B5EF4-FFF2-40B4-BE49-F238E27FC236}">
                  <a16:creationId xmlns:a16="http://schemas.microsoft.com/office/drawing/2014/main" id="{5E1398EF-8749-F19D-370D-6BC99477BB8C}"/>
                </a:ext>
              </a:extLst>
            </p:cNvPr>
            <p:cNvSpPr txBox="1"/>
            <p:nvPr/>
          </p:nvSpPr>
          <p:spPr bwMode="auto">
            <a:xfrm>
              <a:off x="607979" y="1546208"/>
              <a:ext cx="4176093" cy="67566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Formulario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-0.00287 0.148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14722 L -0.00287 0.2817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27107 L 0.00299 0.4791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47269 L 0.00299 0.6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7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8" grpId="3" animBg="1"/>
    </p:bld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5210</TotalTime>
  <Words>1448</Words>
  <Application>Microsoft Office PowerPoint</Application>
  <PresentationFormat>Panorámica</PresentationFormat>
  <Paragraphs>288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Agency FB</vt:lpstr>
      <vt:lpstr>Arial</vt:lpstr>
      <vt:lpstr>Calibri</vt:lpstr>
      <vt:lpstr>Calibri Light</vt:lpstr>
      <vt:lpstr>Consolas</vt:lpstr>
      <vt:lpstr>Tahoma</vt:lpstr>
      <vt:lpstr>Times New Roman</vt:lpstr>
      <vt:lpstr>Wingdings 2</vt:lpstr>
      <vt:lpstr>HDOfficeLightV0</vt:lpstr>
      <vt:lpstr>TALLER DE  PROGRAMACION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LIDI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1</dc:title>
  <dc:creator>Cecilia Verónica Sanz</dc:creator>
  <cp:lastModifiedBy>laurydg75@gmail.com</cp:lastModifiedBy>
  <cp:revision>516</cp:revision>
  <dcterms:created xsi:type="dcterms:W3CDTF">2004-03-08T16:29:06Z</dcterms:created>
  <dcterms:modified xsi:type="dcterms:W3CDTF">2026-08-17T19:43:22Z</dcterms:modified>
</cp:coreProperties>
</file>